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jpe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image" Target="../media/image-6-21.png"/><Relationship Id="rId22" Type="http://schemas.openxmlformats.org/officeDocument/2006/relationships/image" Target="../media/image-6-22.png"/><Relationship Id="rId23" Type="http://schemas.openxmlformats.org/officeDocument/2006/relationships/image" Target="../media/image-6-23.png"/><Relationship Id="rId24" Type="http://schemas.openxmlformats.org/officeDocument/2006/relationships/image" Target="../media/image-6-24.png"/><Relationship Id="rId25" Type="http://schemas.openxmlformats.org/officeDocument/2006/relationships/image" Target="../media/image-6-25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e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png"/><Relationship Id="rId19" Type="http://schemas.openxmlformats.org/officeDocument/2006/relationships/image" Target="../media/image-12-19.png"/><Relationship Id="rId20" Type="http://schemas.openxmlformats.org/officeDocument/2006/relationships/image" Target="../media/image-12-20.png"/><Relationship Id="rId21" Type="http://schemas.openxmlformats.org/officeDocument/2006/relationships/image" Target="../media/image-12-21.png"/><Relationship Id="rId22" Type="http://schemas.openxmlformats.org/officeDocument/2006/relationships/image" Target="../media/image-12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28102" y="0"/>
            <a:ext cx="4067251" cy="6858000"/>
          </a:xfrm>
          <a:custGeom>
            <a:avLst/>
            <a:gdLst/>
            <a:ahLst/>
            <a:cxnLst/>
            <a:rect l="l" t="t" r="r" b="b"/>
            <a:pathLst>
              <a:path w="4067251" h="6858000">
                <a:moveTo>
                  <a:pt x="813450" y="0"/>
                </a:moveTo>
                <a:lnTo>
                  <a:pt x="4067251" y="0"/>
                </a:lnTo>
                <a:lnTo>
                  <a:pt x="406725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FF6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rcRect l="0" r="0" t="0" b="0"/>
          <a:stretch/>
        </p:blipFill>
        <p:spPr>
          <a:xfrm>
            <a:off x="9448495" y="4114800"/>
            <a:ext cx="3657600" cy="36576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-200" r="-200" t="0" b="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61695" y="1719072"/>
            <a:ext cx="38405" cy="1886407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1104595" y="1719072"/>
            <a:ext cx="10497312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spc="-112" kern="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정부 사업과제</a:t>
            </a:r>
            <a:pPr algn="l" indent="0" marL="0">
              <a:buNone/>
            </a:pPr>
            <a:endParaRPr lang="en-US" sz="4500" dirty="0"/>
          </a:p>
          <a:p>
            <a:pPr algn="l" indent="0" marL="0">
              <a:buNone/>
            </a:pPr>
            <a:r>
              <a:rPr lang="en-US" sz="4500" b="1" spc="-112" kern="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 시스템</a:t>
            </a:r>
            <a:pPr algn="l" indent="0" marL="0">
              <a:buNone/>
            </a:pPr>
            <a:r>
              <a:rPr lang="en-US" sz="4500" b="1" spc="-112" kern="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개발 기획안 </a:t>
            </a:r>
            <a:endParaRPr lang="en-US" sz="4500" dirty="0"/>
          </a:p>
        </p:txBody>
      </p:sp>
      <p:sp>
        <p:nvSpPr>
          <p:cNvPr id="9" name="Text 5"/>
          <p:cNvSpPr txBox="1"/>
          <p:nvPr/>
        </p:nvSpPr>
        <p:spPr>
          <a:xfrm>
            <a:off x="1104595" y="3300070"/>
            <a:ext cx="104397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spc="45" kern="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Government Project Recommendation System</a:t>
            </a:r>
            <a:endParaRPr lang="en-US" sz="1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-17" r="-17" t="0" b="0"/>
          <a:stretch/>
        </p:blipFill>
        <p:spPr>
          <a:xfrm>
            <a:off x="1104595" y="4138574"/>
            <a:ext cx="1633118" cy="666598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3" b="-43"/>
          <a:stretch/>
        </p:blipFill>
        <p:spPr>
          <a:xfrm>
            <a:off x="1343254" y="4395521"/>
            <a:ext cx="133502" cy="152705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591056" y="4262018"/>
            <a:ext cx="9912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VERSION</a:t>
            </a:r>
            <a:endParaRPr lang="en-US" sz="900" dirty="0"/>
          </a:p>
        </p:txBody>
      </p:sp>
      <p:sp>
        <p:nvSpPr>
          <p:cNvPr id="13" name="Text 7"/>
          <p:cNvSpPr txBox="1"/>
          <p:nvPr/>
        </p:nvSpPr>
        <p:spPr>
          <a:xfrm>
            <a:off x="1591056" y="4414723"/>
            <a:ext cx="108813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2.0 (보완판)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-3" r="-3" t="0" b="0"/>
          <a:stretch/>
        </p:blipFill>
        <p:spPr>
          <a:xfrm>
            <a:off x="2966314" y="4138574"/>
            <a:ext cx="1128370" cy="666598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43" b="-43"/>
          <a:stretch/>
        </p:blipFill>
        <p:spPr>
          <a:xfrm>
            <a:off x="3204972" y="4395521"/>
            <a:ext cx="133502" cy="15270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3451860" y="4262018"/>
            <a:ext cx="4864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DATE</a:t>
            </a:r>
            <a:endParaRPr lang="en-US" sz="900" dirty="0"/>
          </a:p>
        </p:txBody>
      </p:sp>
      <p:sp>
        <p:nvSpPr>
          <p:cNvPr id="17" name="Text 9"/>
          <p:cNvSpPr txBox="1"/>
          <p:nvPr/>
        </p:nvSpPr>
        <p:spPr>
          <a:xfrm>
            <a:off x="3451860" y="4414723"/>
            <a:ext cx="4864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</a:t>
            </a:r>
            <a:endParaRPr lang="en-US" sz="13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695" y="1090879"/>
            <a:ext cx="2572207" cy="32369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761695" y="1090879"/>
            <a:ext cx="2572207" cy="3246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BFDB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52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PLANNING DOCUMENT</a:t>
            </a:r>
            <a:endParaRPr lang="en-US" sz="1000" dirty="0"/>
          </a:p>
        </p:txBody>
      </p:sp>
      <p:sp>
        <p:nvSpPr>
          <p:cNvPr id="20" name="Shape 11"/>
          <p:cNvSpPr/>
          <p:nvPr/>
        </p:nvSpPr>
        <p:spPr>
          <a:xfrm>
            <a:off x="0" y="5896051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1" name="Shape 12"/>
          <p:cNvSpPr/>
          <p:nvPr/>
        </p:nvSpPr>
        <p:spPr>
          <a:xfrm>
            <a:off x="457200" y="6229807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rcRect l="-837" r="-837" t="0" b="0"/>
          <a:stretch/>
        </p:blipFill>
        <p:spPr>
          <a:xfrm>
            <a:off x="533095" y="6314846"/>
            <a:ext cx="152705" cy="133502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914400" y="6210605"/>
            <a:ext cx="10387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ID</a:t>
            </a:r>
            <a:endParaRPr lang="en-US" sz="900" dirty="0"/>
          </a:p>
        </p:txBody>
      </p:sp>
      <p:sp>
        <p:nvSpPr>
          <p:cNvPr id="24" name="Text 14"/>
          <p:cNvSpPr txBox="1"/>
          <p:nvPr/>
        </p:nvSpPr>
        <p:spPr>
          <a:xfrm>
            <a:off x="914400" y="6362395"/>
            <a:ext cx="10387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GPRS-2025-V2</a:t>
            </a:r>
            <a:endParaRPr lang="en-US" sz="1000" dirty="0"/>
          </a:p>
        </p:txBody>
      </p:sp>
      <p:sp>
        <p:nvSpPr>
          <p:cNvPr id="25" name="Text 15"/>
          <p:cNvSpPr txBox="1"/>
          <p:nvPr/>
        </p:nvSpPr>
        <p:spPr>
          <a:xfrm>
            <a:off x="8819388" y="6362395"/>
            <a:ext cx="350489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대외비 (Confidential) © 2025 All Rights Reserved. </a:t>
            </a:r>
            <a:endParaRPr lang="en-US" sz="100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rcRect l="-2571" r="-2571" t="0" b="0"/>
          <a:stretch/>
        </p:blipFill>
        <p:spPr>
          <a:xfrm>
            <a:off x="8638337" y="6415430"/>
            <a:ext cx="105156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95705"/>
            <a:ext cx="112772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7200"/>
            <a:ext cx="207111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2" kern="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PROJECT OVERVIEW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287578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개요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9974275" y="590702"/>
            <a:ext cx="176570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정부 사업과제 추천 시스템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197389" y="780898"/>
            <a:ext cx="15435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기획안 v2.0</a:t>
            </a:r>
            <a:endParaRPr lang="en-US" sz="9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-4" r="-4" t="0" b="0"/>
          <a:stretch/>
        </p:blipFill>
        <p:spPr>
          <a:xfrm>
            <a:off x="457200" y="1686154"/>
            <a:ext cx="3556102" cy="4324198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alphaModFix amt="5000"/>
          </a:blip>
          <a:srcRect l="0" r="0" t="0" b="0"/>
          <a:stretch/>
        </p:blipFill>
        <p:spPr>
          <a:xfrm>
            <a:off x="2631643" y="1848002"/>
            <a:ext cx="1218895" cy="1218895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-4" r="-4" t="0" b="0"/>
          <a:stretch/>
        </p:blipFill>
        <p:spPr>
          <a:xfrm>
            <a:off x="4317797" y="1686154"/>
            <a:ext cx="3556102" cy="4324198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>
            <a:alphaModFix amt="5000"/>
          </a:blip>
          <a:srcRect l="0" r="0" t="0" b="0"/>
          <a:stretch/>
        </p:blipFill>
        <p:spPr>
          <a:xfrm>
            <a:off x="6493154" y="1848002"/>
            <a:ext cx="1218895" cy="1218895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rcRect l="-2" r="-2" t="0" b="0"/>
          <a:stretch/>
        </p:blipFill>
        <p:spPr>
          <a:xfrm>
            <a:off x="8178394" y="1686154"/>
            <a:ext cx="3556102" cy="4324198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>
            <a:alphaModFix amt="5000"/>
          </a:blip>
          <a:srcRect l="-13" r="-13" t="0" b="0"/>
          <a:stretch/>
        </p:blipFill>
        <p:spPr>
          <a:xfrm>
            <a:off x="10201046" y="1848002"/>
            <a:ext cx="1371600" cy="1218895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457200" y="6010351"/>
            <a:ext cx="112772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6" name="Text 8"/>
          <p:cNvSpPr txBox="1"/>
          <p:nvPr/>
        </p:nvSpPr>
        <p:spPr>
          <a:xfrm>
            <a:off x="457200" y="6248095"/>
            <a:ext cx="43104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2025 Government Project Recommendation System. Confidential.</a:t>
            </a:r>
            <a:endParaRPr lang="en-US" sz="900" dirty="0"/>
          </a:p>
        </p:txBody>
      </p:sp>
      <p:sp>
        <p:nvSpPr>
          <p:cNvPr id="17" name="Text 9"/>
          <p:cNvSpPr txBox="1"/>
          <p:nvPr/>
        </p:nvSpPr>
        <p:spPr>
          <a:xfrm>
            <a:off x="11319358" y="6248095"/>
            <a:ext cx="4974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02</a:t>
            </a:r>
            <a:endParaRPr lang="en-US" sz="900" dirty="0"/>
          </a:p>
        </p:txBody>
      </p:sp>
      <p:sp>
        <p:nvSpPr>
          <p:cNvPr id="18" name="Shape 10"/>
          <p:cNvSpPr/>
          <p:nvPr/>
        </p:nvSpPr>
        <p:spPr>
          <a:xfrm>
            <a:off x="771754" y="2000707"/>
            <a:ext cx="457200" cy="4572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05256" y="2133295"/>
            <a:ext cx="190195" cy="190195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1380744" y="2076602"/>
            <a:ext cx="5056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</a:t>
            </a:r>
            <a:endParaRPr lang="en-US" sz="18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771754" y="2734056"/>
            <a:ext cx="152705" cy="152705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1037844" y="2686507"/>
            <a:ext cx="27432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기업별 </a:t>
            </a:r>
            <a:pPr algn="l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선정 가능성이 높은 정부 과제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우선순위로 추천</a:t>
            </a:r>
            <a:endParaRPr lang="en-US" sz="130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771754" y="3357677"/>
            <a:ext cx="152705" cy="152705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1037844" y="3310128"/>
            <a:ext cx="27432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 이유, 준비도, </a:t>
            </a:r>
            <a:pPr algn="l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액션플랜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까지 제공하여 실행력 강화</a:t>
            </a:r>
            <a:endParaRPr lang="en-US" sz="1300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771754" y="3981298"/>
            <a:ext cx="152705" cy="152705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1037844" y="3933749"/>
            <a:ext cx="27432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 탐색부터 지원 의사결정까지의 </a:t>
            </a:r>
            <a:pPr algn="l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시간을 획기적으로 단축</a:t>
            </a:r>
            <a:endParaRPr lang="en-US" sz="1300" dirty="0"/>
          </a:p>
        </p:txBody>
      </p:sp>
      <p:sp>
        <p:nvSpPr>
          <p:cNvPr id="27" name="Shape 15"/>
          <p:cNvSpPr/>
          <p:nvPr/>
        </p:nvSpPr>
        <p:spPr>
          <a:xfrm>
            <a:off x="4632350" y="2000707"/>
            <a:ext cx="457200" cy="457200"/>
          </a:xfrm>
          <a:prstGeom prst="ellips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4765853" y="2133295"/>
            <a:ext cx="190195" cy="190195"/>
          </a:xfrm>
          <a:prstGeom prst="rect">
            <a:avLst/>
          </a:prstGeom>
        </p:spPr>
      </p:pic>
      <p:sp>
        <p:nvSpPr>
          <p:cNvPr id="29" name="Text 16"/>
          <p:cNvSpPr txBox="1"/>
          <p:nvPr/>
        </p:nvSpPr>
        <p:spPr>
          <a:xfrm>
            <a:off x="5242255" y="2076602"/>
            <a:ext cx="97566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기대효과</a:t>
            </a:r>
            <a:endParaRPr lang="en-US" sz="1800" dirty="0"/>
          </a:p>
        </p:txBody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100" b="-100"/>
          <a:stretch/>
        </p:blipFill>
        <p:spPr>
          <a:xfrm>
            <a:off x="4632350" y="2734056"/>
            <a:ext cx="114300" cy="152705"/>
          </a:xfrm>
          <a:prstGeom prst="rect">
            <a:avLst/>
          </a:prstGeom>
        </p:spPr>
      </p:pic>
      <p:sp>
        <p:nvSpPr>
          <p:cNvPr id="31" name="Text 17"/>
          <p:cNvSpPr txBox="1"/>
          <p:nvPr/>
        </p:nvSpPr>
        <p:spPr>
          <a:xfrm>
            <a:off x="4860950" y="2686507"/>
            <a:ext cx="32772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</a:t>
            </a:r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선정률 향상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수주 성과 극대화</a:t>
            </a:r>
            <a:endParaRPr lang="en-US" sz="1300" dirty="0"/>
          </a:p>
        </p:txBody>
      </p:sp>
      <p:pic>
        <p:nvPicPr>
          <p:cNvPr id="32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4632350" y="3121762"/>
            <a:ext cx="152705" cy="152705"/>
          </a:xfrm>
          <a:prstGeom prst="rect">
            <a:avLst/>
          </a:prstGeom>
        </p:spPr>
      </p:pic>
      <p:sp>
        <p:nvSpPr>
          <p:cNvPr id="33" name="Text 18"/>
          <p:cNvSpPr txBox="1"/>
          <p:nvPr/>
        </p:nvSpPr>
        <p:spPr>
          <a:xfrm>
            <a:off x="4899355" y="3074213"/>
            <a:ext cx="27432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 탐색 및 분석에 소요되는 </a:t>
            </a:r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단축</a:t>
            </a:r>
            <a:endParaRPr lang="en-US" sz="1300" dirty="0"/>
          </a:p>
        </p:txBody>
      </p:sp>
      <p:pic>
        <p:nvPicPr>
          <p:cNvPr id="34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100" b="-100"/>
          <a:stretch/>
        </p:blipFill>
        <p:spPr>
          <a:xfrm>
            <a:off x="4632350" y="3745382"/>
            <a:ext cx="114300" cy="152705"/>
          </a:xfrm>
          <a:prstGeom prst="rect">
            <a:avLst/>
          </a:prstGeom>
        </p:spPr>
      </p:pic>
      <p:sp>
        <p:nvSpPr>
          <p:cNvPr id="35" name="Text 19"/>
          <p:cNvSpPr txBox="1"/>
          <p:nvPr/>
        </p:nvSpPr>
        <p:spPr>
          <a:xfrm>
            <a:off x="4860950" y="3697834"/>
            <a:ext cx="27816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맞춤형 가이드 제공을 통한 </a:t>
            </a:r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제안서 품질 향상</a:t>
            </a:r>
            <a:endParaRPr lang="en-US" sz="1300" dirty="0"/>
          </a:p>
        </p:txBody>
      </p:sp>
      <p:sp>
        <p:nvSpPr>
          <p:cNvPr id="36" name="Shape 20"/>
          <p:cNvSpPr/>
          <p:nvPr/>
        </p:nvSpPr>
        <p:spPr>
          <a:xfrm>
            <a:off x="8492947" y="2000707"/>
            <a:ext cx="457200" cy="45720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pic>
        <p:nvPicPr>
          <p:cNvPr id="37" name="Image 14" descr="preencoded.png">    </p:cNvPr>
          <p:cNvPicPr>
            <a:picLocks noChangeAspect="1"/>
          </p:cNvPicPr>
          <p:nvPr/>
        </p:nvPicPr>
        <p:blipFill>
          <a:blip r:embed="rId15"/>
          <a:srcRect l="-1282" r="-1282" t="0" b="0"/>
          <a:stretch/>
        </p:blipFill>
        <p:spPr>
          <a:xfrm>
            <a:off x="8611819" y="2133295"/>
            <a:ext cx="219456" cy="190195"/>
          </a:xfrm>
          <a:prstGeom prst="rect">
            <a:avLst/>
          </a:prstGeom>
        </p:spPr>
      </p:pic>
      <p:sp>
        <p:nvSpPr>
          <p:cNvPr id="38" name="Text 21"/>
          <p:cNvSpPr txBox="1"/>
          <p:nvPr/>
        </p:nvSpPr>
        <p:spPr>
          <a:xfrm>
            <a:off x="9102852" y="2076602"/>
            <a:ext cx="135056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범위 (MVP)</a:t>
            </a:r>
            <a:endParaRPr lang="en-US" sz="1800" dirty="0"/>
          </a:p>
        </p:txBody>
      </p:sp>
      <p:pic>
        <p:nvPicPr>
          <p:cNvPr id="39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8492947" y="2734056"/>
            <a:ext cx="152705" cy="152705"/>
          </a:xfrm>
          <a:prstGeom prst="rect">
            <a:avLst/>
          </a:prstGeom>
        </p:spPr>
      </p:pic>
      <p:sp>
        <p:nvSpPr>
          <p:cNvPr id="40" name="Text 22"/>
          <p:cNvSpPr txBox="1"/>
          <p:nvPr/>
        </p:nvSpPr>
        <p:spPr>
          <a:xfrm>
            <a:off x="8759952" y="2686507"/>
            <a:ext cx="235640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 문서 포맷: 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endParaRPr lang="en-US" sz="1300" dirty="0"/>
          </a:p>
        </p:txBody>
      </p:sp>
      <p:sp>
        <p:nvSpPr>
          <p:cNvPr id="41" name="Shape 23"/>
          <p:cNvSpPr/>
          <p:nvPr/>
        </p:nvSpPr>
        <p:spPr>
          <a:xfrm>
            <a:off x="8492947" y="3105302"/>
            <a:ext cx="2933395" cy="2038198"/>
          </a:xfrm>
          <a:prstGeom prst="roundRect">
            <a:avLst>
              <a:gd name="adj" fmla="val 1677"/>
            </a:avLst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42" name="Text 24"/>
          <p:cNvSpPr txBox="1"/>
          <p:nvPr/>
        </p:nvSpPr>
        <p:spPr>
          <a:xfrm>
            <a:off x="8654796" y="3267151"/>
            <a:ext cx="28008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338C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기능 범위</a:t>
            </a:r>
            <a:endParaRPr lang="en-US" sz="1000" dirty="0"/>
          </a:p>
        </p:txBody>
      </p:sp>
      <p:sp>
        <p:nvSpPr>
          <p:cNvPr id="43" name="Text 25"/>
          <p:cNvSpPr txBox="1"/>
          <p:nvPr/>
        </p:nvSpPr>
        <p:spPr>
          <a:xfrm>
            <a:off x="8654796" y="3534156"/>
            <a:ext cx="28008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 통합 검색</a:t>
            </a:r>
            <a:endParaRPr lang="en-US" sz="1200" dirty="0"/>
          </a:p>
        </p:txBody>
      </p:sp>
      <p:sp>
        <p:nvSpPr>
          <p:cNvPr id="44" name="Text 26"/>
          <p:cNvSpPr txBox="1"/>
          <p:nvPr/>
        </p:nvSpPr>
        <p:spPr>
          <a:xfrm>
            <a:off x="8654796" y="3838651"/>
            <a:ext cx="28008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자격요건 자동 필터링</a:t>
            </a:r>
            <a:endParaRPr lang="en-US" sz="1200" dirty="0"/>
          </a:p>
        </p:txBody>
      </p:sp>
      <p:sp>
        <p:nvSpPr>
          <p:cNvPr id="45" name="Text 27"/>
          <p:cNvSpPr txBox="1"/>
          <p:nvPr/>
        </p:nvSpPr>
        <p:spPr>
          <a:xfrm>
            <a:off x="8654796" y="4143146"/>
            <a:ext cx="28008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적합도 스코어링</a:t>
            </a:r>
            <a:endParaRPr lang="en-US" sz="1200" dirty="0"/>
          </a:p>
        </p:txBody>
      </p:sp>
      <p:sp>
        <p:nvSpPr>
          <p:cNvPr id="46" name="Text 28"/>
          <p:cNvSpPr txBox="1"/>
          <p:nvPr/>
        </p:nvSpPr>
        <p:spPr>
          <a:xfrm>
            <a:off x="8654796" y="4448556"/>
            <a:ext cx="28008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추천/비추천 근거 제공</a:t>
            </a:r>
            <a:endParaRPr lang="en-US" sz="1200" dirty="0"/>
          </a:p>
        </p:txBody>
      </p:sp>
      <p:sp>
        <p:nvSpPr>
          <p:cNvPr id="47" name="Text 29"/>
          <p:cNvSpPr txBox="1"/>
          <p:nvPr/>
        </p:nvSpPr>
        <p:spPr>
          <a:xfrm>
            <a:off x="8654796" y="4753051"/>
            <a:ext cx="28008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마감 알림 서비스</a:t>
            </a:r>
            <a:endParaRPr lang="en-US" sz="1200" dirty="0"/>
          </a:p>
        </p:txBody>
      </p:sp>
      <p:pic>
        <p:nvPicPr>
          <p:cNvPr id="4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898380" y="2734056"/>
            <a:ext cx="523951" cy="209398"/>
          </a:xfrm>
          <a:prstGeom prst="rect">
            <a:avLst/>
          </a:prstGeom>
        </p:spPr>
      </p:pic>
      <p:sp>
        <p:nvSpPr>
          <p:cNvPr id="49" name="Text 30"/>
          <p:cNvSpPr/>
          <p:nvPr/>
        </p:nvSpPr>
        <p:spPr>
          <a:xfrm>
            <a:off x="9898380" y="2734056"/>
            <a:ext cx="523951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HWPX</a:t>
            </a:r>
            <a:endParaRPr lang="en-US" sz="1200" dirty="0"/>
          </a:p>
        </p:txBody>
      </p:sp>
      <p:pic>
        <p:nvPicPr>
          <p:cNvPr id="5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511942" y="2734056"/>
            <a:ext cx="428854" cy="209398"/>
          </a:xfrm>
          <a:prstGeom prst="rect">
            <a:avLst/>
          </a:prstGeom>
        </p:spPr>
      </p:pic>
      <p:sp>
        <p:nvSpPr>
          <p:cNvPr id="51" name="Text 31"/>
          <p:cNvSpPr/>
          <p:nvPr/>
        </p:nvSpPr>
        <p:spPr>
          <a:xfrm>
            <a:off x="10511942" y="2734056"/>
            <a:ext cx="428854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PDF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19810"/>
            <a:ext cx="112772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7200"/>
            <a:ext cx="36576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2" kern="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USER &amp; WORKFLOW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519470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사용자 및 검색 절차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9974275" y="590702"/>
            <a:ext cx="176570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정부 사업과제 추천 시스템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197389" y="780898"/>
            <a:ext cx="15435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기획안 v2.0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9244" y="1533449"/>
            <a:ext cx="43342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사용자 (Persona) </a:t>
            </a:r>
            <a:endParaRPr lang="en-US" sz="15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571854"/>
            <a:ext cx="237744" cy="190195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-17" r="-17" t="0" b="0"/>
          <a:stretch/>
        </p:blipFill>
        <p:spPr>
          <a:xfrm>
            <a:off x="457200" y="1952244"/>
            <a:ext cx="4572000" cy="875995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43" b="-43"/>
          <a:stretch/>
        </p:blipFill>
        <p:spPr>
          <a:xfrm>
            <a:off x="771754" y="2229307"/>
            <a:ext cx="133502" cy="1527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1405" y="2115007"/>
            <a:ext cx="162580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/ 의사결정자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1181405" y="2343607"/>
            <a:ext cx="178033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지원 우선순위 결정, 투자 판단</a:t>
            </a:r>
            <a:endParaRPr lang="en-US" sz="900" dirty="0"/>
          </a:p>
        </p:txBody>
      </p:sp>
      <p:sp>
        <p:nvSpPr>
          <p:cNvPr id="15" name="Text 10"/>
          <p:cNvSpPr txBox="1"/>
          <p:nvPr/>
        </p:nvSpPr>
        <p:spPr>
          <a:xfrm>
            <a:off x="1181405" y="2514600"/>
            <a:ext cx="187634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KPI 확인, 포트폴리오 전략 수립</a:t>
            </a:r>
            <a:endParaRPr lang="en-US" sz="9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-17" r="-17" t="0" b="0"/>
          <a:stretch/>
        </p:blipFill>
        <p:spPr>
          <a:xfrm>
            <a:off x="457200" y="2943454"/>
            <a:ext cx="4572000" cy="875995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47395" y="3105302"/>
            <a:ext cx="381305" cy="38130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61695" y="3219602"/>
            <a:ext cx="152705" cy="15270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181405" y="3105302"/>
            <a:ext cx="1604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사업개발 담당자</a:t>
            </a:r>
            <a:endParaRPr lang="en-US" sz="1000" dirty="0"/>
          </a:p>
        </p:txBody>
      </p:sp>
      <p:sp>
        <p:nvSpPr>
          <p:cNvPr id="20" name="Text 13"/>
          <p:cNvSpPr txBox="1"/>
          <p:nvPr/>
        </p:nvSpPr>
        <p:spPr>
          <a:xfrm>
            <a:off x="1181405" y="3333902"/>
            <a:ext cx="191566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 탐색, 일정 관리, 지원 준비</a:t>
            </a:r>
            <a:endParaRPr lang="en-US" sz="900" dirty="0"/>
          </a:p>
        </p:txBody>
      </p:sp>
      <p:sp>
        <p:nvSpPr>
          <p:cNvPr id="21" name="Text 14"/>
          <p:cNvSpPr txBox="1"/>
          <p:nvPr/>
        </p:nvSpPr>
        <p:spPr>
          <a:xfrm>
            <a:off x="1181405" y="3504895"/>
            <a:ext cx="191566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공고 검색, 알림 설정, 서류 준비</a:t>
            </a:r>
            <a:endParaRPr lang="en-US" sz="9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rcRect l="-17" r="-17" t="0" b="0"/>
          <a:stretch/>
        </p:blipFill>
        <p:spPr>
          <a:xfrm>
            <a:off x="457200" y="3933749"/>
            <a:ext cx="4572000" cy="875995"/>
          </a:xfrm>
          <a:prstGeom prst="rect">
            <a:avLst/>
          </a:prstGeom>
        </p:spPr>
      </p:pic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43" b="-43"/>
          <a:stretch/>
        </p:blipFill>
        <p:spPr>
          <a:xfrm>
            <a:off x="771754" y="4209898"/>
            <a:ext cx="133502" cy="152705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181405" y="4095598"/>
            <a:ext cx="165689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연구책임자</a:t>
            </a:r>
            <a:endParaRPr lang="en-US" sz="1000" dirty="0"/>
          </a:p>
        </p:txBody>
      </p:sp>
      <p:sp>
        <p:nvSpPr>
          <p:cNvPr id="25" name="Text 16"/>
          <p:cNvSpPr txBox="1"/>
          <p:nvPr/>
        </p:nvSpPr>
        <p:spPr>
          <a:xfrm>
            <a:off x="1181405" y="4324198"/>
            <a:ext cx="189280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적합성 검토, 수행전략 수립</a:t>
            </a:r>
            <a:endParaRPr lang="en-US" sz="900" dirty="0"/>
          </a:p>
        </p:txBody>
      </p:sp>
      <p:sp>
        <p:nvSpPr>
          <p:cNvPr id="26" name="Text 17"/>
          <p:cNvSpPr txBox="1"/>
          <p:nvPr/>
        </p:nvSpPr>
        <p:spPr>
          <a:xfrm>
            <a:off x="1181405" y="4496105"/>
            <a:ext cx="178308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키워드 입력, 제안서 작성</a:t>
            </a:r>
            <a:endParaRPr lang="en-US" sz="900" dirty="0"/>
          </a:p>
        </p:txBody>
      </p:sp>
      <p:sp>
        <p:nvSpPr>
          <p:cNvPr id="27" name="Shape 18"/>
          <p:cNvSpPr/>
          <p:nvPr/>
        </p:nvSpPr>
        <p:spPr>
          <a:xfrm>
            <a:off x="457200" y="5115154"/>
            <a:ext cx="45720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8" name="Text 19"/>
          <p:cNvSpPr txBox="1"/>
          <p:nvPr/>
        </p:nvSpPr>
        <p:spPr>
          <a:xfrm>
            <a:off x="761695" y="5277002"/>
            <a:ext cx="445861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6단계 검색 절차 </a:t>
            </a:r>
            <a:endParaRPr lang="en-US" sz="15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57200" y="5315407"/>
            <a:ext cx="190195" cy="190195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457200" y="5695798"/>
            <a:ext cx="23865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기업 프로필 입력 </a:t>
            </a:r>
            <a:endParaRPr lang="en-US" sz="1000" dirty="0"/>
          </a:p>
        </p:txBody>
      </p:sp>
      <p:sp>
        <p:nvSpPr>
          <p:cNvPr id="31" name="Text 21"/>
          <p:cNvSpPr/>
          <p:nvPr/>
        </p:nvSpPr>
        <p:spPr>
          <a:xfrm>
            <a:off x="418795" y="5695798"/>
            <a:ext cx="2670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900" dirty="0"/>
          </a:p>
        </p:txBody>
      </p:sp>
      <p:sp>
        <p:nvSpPr>
          <p:cNvPr id="32" name="Text 22"/>
          <p:cNvSpPr txBox="1"/>
          <p:nvPr/>
        </p:nvSpPr>
        <p:spPr>
          <a:xfrm>
            <a:off x="2819095" y="5695798"/>
            <a:ext cx="23865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검색 조건 설정 </a:t>
            </a:r>
            <a:endParaRPr lang="en-US" sz="1000" dirty="0"/>
          </a:p>
        </p:txBody>
      </p:sp>
      <p:sp>
        <p:nvSpPr>
          <p:cNvPr id="33" name="Text 23"/>
          <p:cNvSpPr/>
          <p:nvPr/>
        </p:nvSpPr>
        <p:spPr>
          <a:xfrm>
            <a:off x="2781605" y="5695798"/>
            <a:ext cx="2670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00" dirty="0"/>
          </a:p>
        </p:txBody>
      </p:sp>
      <p:sp>
        <p:nvSpPr>
          <p:cNvPr id="34" name="Text 24"/>
          <p:cNvSpPr txBox="1"/>
          <p:nvPr/>
        </p:nvSpPr>
        <p:spPr>
          <a:xfrm>
            <a:off x="457200" y="5962802"/>
            <a:ext cx="22988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1차 필터 (자격요건) </a:t>
            </a:r>
            <a:endParaRPr lang="en-US" sz="1000" dirty="0"/>
          </a:p>
        </p:txBody>
      </p:sp>
      <p:sp>
        <p:nvSpPr>
          <p:cNvPr id="35" name="Text 25"/>
          <p:cNvSpPr/>
          <p:nvPr/>
        </p:nvSpPr>
        <p:spPr>
          <a:xfrm>
            <a:off x="418795" y="5962802"/>
            <a:ext cx="2670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00" dirty="0"/>
          </a:p>
        </p:txBody>
      </p:sp>
      <p:sp>
        <p:nvSpPr>
          <p:cNvPr id="36" name="Text 26"/>
          <p:cNvSpPr txBox="1"/>
          <p:nvPr/>
        </p:nvSpPr>
        <p:spPr>
          <a:xfrm>
            <a:off x="2819095" y="5962802"/>
            <a:ext cx="22988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2차 랭킹 (스코어링) </a:t>
            </a:r>
            <a:endParaRPr lang="en-US" sz="1000" dirty="0"/>
          </a:p>
        </p:txBody>
      </p:sp>
      <p:sp>
        <p:nvSpPr>
          <p:cNvPr id="37" name="Text 27"/>
          <p:cNvSpPr/>
          <p:nvPr/>
        </p:nvSpPr>
        <p:spPr>
          <a:xfrm>
            <a:off x="2781605" y="5962802"/>
            <a:ext cx="2670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900" dirty="0"/>
          </a:p>
        </p:txBody>
      </p:sp>
      <p:sp>
        <p:nvSpPr>
          <p:cNvPr id="38" name="Text 28"/>
          <p:cNvSpPr txBox="1"/>
          <p:nvPr/>
        </p:nvSpPr>
        <p:spPr>
          <a:xfrm>
            <a:off x="457200" y="6229807"/>
            <a:ext cx="23865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상세 공고 열람 </a:t>
            </a:r>
            <a:endParaRPr lang="en-US" sz="1000" dirty="0"/>
          </a:p>
        </p:txBody>
      </p:sp>
      <p:sp>
        <p:nvSpPr>
          <p:cNvPr id="39" name="Text 29"/>
          <p:cNvSpPr/>
          <p:nvPr/>
        </p:nvSpPr>
        <p:spPr>
          <a:xfrm>
            <a:off x="418795" y="6229807"/>
            <a:ext cx="2670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900" dirty="0"/>
          </a:p>
        </p:txBody>
      </p:sp>
      <p:sp>
        <p:nvSpPr>
          <p:cNvPr id="40" name="Text 30"/>
          <p:cNvSpPr txBox="1"/>
          <p:nvPr/>
        </p:nvSpPr>
        <p:spPr>
          <a:xfrm>
            <a:off x="2819095" y="6229807"/>
            <a:ext cx="23865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액션 실행 (지원/보완) </a:t>
            </a:r>
            <a:endParaRPr lang="en-US" sz="1000" dirty="0"/>
          </a:p>
        </p:txBody>
      </p:sp>
      <p:sp>
        <p:nvSpPr>
          <p:cNvPr id="41" name="Text 31"/>
          <p:cNvSpPr/>
          <p:nvPr/>
        </p:nvSpPr>
        <p:spPr>
          <a:xfrm>
            <a:off x="2781605" y="6229807"/>
            <a:ext cx="2670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900" dirty="0"/>
          </a:p>
        </p:txBody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rcRect l="-1" r="-1" t="0" b="0"/>
          <a:stretch/>
        </p:blipFill>
        <p:spPr>
          <a:xfrm>
            <a:off x="5333695" y="1533449"/>
            <a:ext cx="6400800" cy="4619549"/>
          </a:xfrm>
          <a:prstGeom prst="rect">
            <a:avLst/>
          </a:prstGeom>
        </p:spPr>
      </p:pic>
      <p:sp>
        <p:nvSpPr>
          <p:cNvPr id="43" name="Shape 32"/>
          <p:cNvSpPr/>
          <p:nvPr/>
        </p:nvSpPr>
        <p:spPr>
          <a:xfrm>
            <a:off x="5381244" y="1580998"/>
            <a:ext cx="6305702" cy="4524451"/>
          </a:xfrm>
          <a:prstGeom prst="roundRect">
            <a:avLst>
              <a:gd name="adj" fmla="val 340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rcRect l="88" r="88" t="0" b="0"/>
          <a:stretch/>
        </p:blipFill>
        <p:spPr>
          <a:xfrm>
            <a:off x="5391302" y="2089404"/>
            <a:ext cx="6286500" cy="3514954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7071055" y="6267298"/>
            <a:ext cx="485455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과제 탐색부터 지원 의사결정까지의 End-to-End 프로세스 시각화 </a:t>
            </a:r>
            <a:endParaRPr lang="en-US" sz="900" dirty="0"/>
          </a:p>
        </p:txBody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6886346" y="6291072"/>
            <a:ext cx="114300" cy="114300"/>
          </a:xfrm>
          <a:prstGeom prst="rect">
            <a:avLst/>
          </a:prstGeom>
        </p:spPr>
      </p:pic>
      <p:sp>
        <p:nvSpPr>
          <p:cNvPr id="47" name="Shape 34"/>
          <p:cNvSpPr/>
          <p:nvPr/>
        </p:nvSpPr>
        <p:spPr>
          <a:xfrm>
            <a:off x="457200" y="6010351"/>
            <a:ext cx="4067251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8" name="Text 35"/>
          <p:cNvSpPr txBox="1"/>
          <p:nvPr/>
        </p:nvSpPr>
        <p:spPr>
          <a:xfrm>
            <a:off x="457200" y="6248095"/>
            <a:ext cx="43104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2025 Government Project Recommendation System. Confidential.</a:t>
            </a:r>
            <a:endParaRPr lang="en-US" sz="900" dirty="0"/>
          </a:p>
        </p:txBody>
      </p:sp>
      <p:sp>
        <p:nvSpPr>
          <p:cNvPr id="49" name="Text 36"/>
          <p:cNvSpPr txBox="1"/>
          <p:nvPr/>
        </p:nvSpPr>
        <p:spPr>
          <a:xfrm>
            <a:off x="4101084" y="6248095"/>
            <a:ext cx="4974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03</a:t>
            </a:r>
            <a:endParaRPr lang="en-US" sz="900" dirty="0"/>
          </a:p>
        </p:txBody>
      </p:sp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95544" y="1705356"/>
            <a:ext cx="790956" cy="237744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5495544" y="1705356"/>
            <a:ext cx="790956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흐름도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95705"/>
            <a:ext cx="112772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7200"/>
            <a:ext cx="3143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2" kern="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CORE FEATURES &amp; DIFFERENTIATION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396209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기능과 차별화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9974275" y="590702"/>
            <a:ext cx="176570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정부 사업과제 추천 시스템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197389" y="780898"/>
            <a:ext cx="15435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기획안 v2.0</a:t>
            </a:r>
            <a:endParaRPr lang="en-US" sz="9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-2" r="-2" t="0" b="0"/>
          <a:stretch/>
        </p:blipFill>
        <p:spPr>
          <a:xfrm>
            <a:off x="457200" y="1609344"/>
            <a:ext cx="3556102" cy="434340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alphaModFix amt="5000"/>
          </a:blip>
          <a:srcRect l="-27" r="-27" t="0" b="0"/>
          <a:stretch/>
        </p:blipFill>
        <p:spPr>
          <a:xfrm>
            <a:off x="2784348" y="1772107"/>
            <a:ext cx="1067105" cy="1218895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-2" r="-2" t="0" b="0"/>
          <a:stretch/>
        </p:blipFill>
        <p:spPr>
          <a:xfrm>
            <a:off x="4317797" y="1609344"/>
            <a:ext cx="3556102" cy="4343400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>
            <a:alphaModFix amt="5000"/>
          </a:blip>
          <a:srcRect l="-23" r="-23" t="0" b="0"/>
          <a:stretch/>
        </p:blipFill>
        <p:spPr>
          <a:xfrm>
            <a:off x="6187745" y="1772107"/>
            <a:ext cx="1524305" cy="1218895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178394" y="1609344"/>
            <a:ext cx="3556102" cy="4343400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>
            <a:alphaModFix amt="5000"/>
          </a:blip>
          <a:srcRect l="0" r="0" t="0" b="0"/>
          <a:stretch/>
        </p:blipFill>
        <p:spPr>
          <a:xfrm>
            <a:off x="10353751" y="1772107"/>
            <a:ext cx="1218895" cy="1218895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457200" y="6105449"/>
            <a:ext cx="112772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6" name="Text 8"/>
          <p:cNvSpPr txBox="1"/>
          <p:nvPr/>
        </p:nvSpPr>
        <p:spPr>
          <a:xfrm>
            <a:off x="457200" y="6267298"/>
            <a:ext cx="43104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2025 Government Project Recommendation System. Confidential.</a:t>
            </a:r>
            <a:endParaRPr lang="en-US" sz="900" dirty="0"/>
          </a:p>
        </p:txBody>
      </p:sp>
      <p:sp>
        <p:nvSpPr>
          <p:cNvPr id="17" name="Text 9"/>
          <p:cNvSpPr txBox="1"/>
          <p:nvPr/>
        </p:nvSpPr>
        <p:spPr>
          <a:xfrm>
            <a:off x="11319358" y="6267298"/>
            <a:ext cx="4974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04</a:t>
            </a:r>
            <a:endParaRPr lang="en-US" sz="900" dirty="0"/>
          </a:p>
        </p:txBody>
      </p:sp>
      <p:sp>
        <p:nvSpPr>
          <p:cNvPr id="18" name="Shape 10"/>
          <p:cNvSpPr/>
          <p:nvPr/>
        </p:nvSpPr>
        <p:spPr>
          <a:xfrm>
            <a:off x="771754" y="2000707"/>
            <a:ext cx="457200" cy="4572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05256" y="2133295"/>
            <a:ext cx="190195" cy="190195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1380744" y="1923898"/>
            <a:ext cx="11055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기능 I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&amp; 분석</a:t>
            </a:r>
            <a:endParaRPr lang="en-US" sz="18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80" b="-180"/>
          <a:stretch/>
        </p:blipFill>
        <p:spPr>
          <a:xfrm>
            <a:off x="771754" y="2809951"/>
            <a:ext cx="190195" cy="152705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1076249" y="2762402"/>
            <a:ext cx="28200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공고 통합 수집</a:t>
            </a:r>
            <a:endParaRPr lang="en-US" sz="1300" dirty="0"/>
          </a:p>
        </p:txBody>
      </p:sp>
      <p:sp>
        <p:nvSpPr>
          <p:cNvPr id="23" name="Text 13"/>
          <p:cNvSpPr txBox="1"/>
          <p:nvPr/>
        </p:nvSpPr>
        <p:spPr>
          <a:xfrm>
            <a:off x="1076249" y="3066898"/>
            <a:ext cx="27057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부처/전문기관 공고를 표준 포맷으로 정규화하여 통합 관리</a:t>
            </a:r>
            <a:endParaRPr lang="en-US" sz="10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rcRect l="-5356" r="-5356" t="0" b="0"/>
          <a:stretch/>
        </p:blipFill>
        <p:spPr>
          <a:xfrm>
            <a:off x="771754" y="3681374"/>
            <a:ext cx="190195" cy="152705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1076249" y="3633826"/>
            <a:ext cx="28200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프로파일 자동화</a:t>
            </a:r>
            <a:endParaRPr lang="en-US" sz="1300" dirty="0"/>
          </a:p>
        </p:txBody>
      </p:sp>
      <p:sp>
        <p:nvSpPr>
          <p:cNvPr id="26" name="Text 15"/>
          <p:cNvSpPr txBox="1"/>
          <p:nvPr/>
        </p:nvSpPr>
        <p:spPr>
          <a:xfrm>
            <a:off x="1076249" y="3938321"/>
            <a:ext cx="27057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업종, 기술, 인증, 재무, 인력, 과거 수행실적 데이터 자동 관리</a:t>
            </a:r>
            <a:endParaRPr lang="en-US" sz="100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rcRect l="-33034" r="-33034" t="0" b="0"/>
          <a:stretch/>
        </p:blipFill>
        <p:spPr>
          <a:xfrm>
            <a:off x="771754" y="4496105"/>
            <a:ext cx="190195" cy="152705"/>
          </a:xfrm>
          <a:prstGeom prst="rect">
            <a:avLst/>
          </a:prstGeom>
        </p:spPr>
      </p:pic>
      <p:sp>
        <p:nvSpPr>
          <p:cNvPr id="28" name="Text 16"/>
          <p:cNvSpPr txBox="1"/>
          <p:nvPr/>
        </p:nvSpPr>
        <p:spPr>
          <a:xfrm>
            <a:off x="1076249" y="4448556"/>
            <a:ext cx="28200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적합도 스코어링</a:t>
            </a:r>
            <a:endParaRPr lang="en-US" sz="1300" dirty="0"/>
          </a:p>
        </p:txBody>
      </p:sp>
      <p:sp>
        <p:nvSpPr>
          <p:cNvPr id="29" name="Text 17"/>
          <p:cNvSpPr txBox="1"/>
          <p:nvPr/>
        </p:nvSpPr>
        <p:spPr>
          <a:xfrm>
            <a:off x="1076249" y="4753051"/>
            <a:ext cx="27057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자격요건 + 기술매칭 + 가점요소 + 경쟁강도를 반영한 종합 점수 산출</a:t>
            </a:r>
            <a:endParaRPr lang="en-US" sz="1000" dirty="0"/>
          </a:p>
        </p:txBody>
      </p:sp>
      <p:sp>
        <p:nvSpPr>
          <p:cNvPr id="30" name="Shape 18"/>
          <p:cNvSpPr/>
          <p:nvPr/>
        </p:nvSpPr>
        <p:spPr>
          <a:xfrm>
            <a:off x="4632350" y="2000707"/>
            <a:ext cx="457200" cy="457200"/>
          </a:xfrm>
          <a:prstGeom prst="ellips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4765853" y="2133295"/>
            <a:ext cx="190195" cy="190195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5242255" y="1923898"/>
            <a:ext cx="118140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기능 II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 &amp; 서비스</a:t>
            </a:r>
            <a:endParaRPr lang="en-US" sz="1800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rcRect l="-12275" r="-12275" t="0" b="0"/>
          <a:stretch/>
        </p:blipFill>
        <p:spPr>
          <a:xfrm>
            <a:off x="4632350" y="2809951"/>
            <a:ext cx="190195" cy="152705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4936846" y="2762402"/>
            <a:ext cx="2734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Explainable 추천</a:t>
            </a:r>
            <a:endParaRPr lang="en-US" sz="1300" dirty="0"/>
          </a:p>
        </p:txBody>
      </p:sp>
      <p:sp>
        <p:nvSpPr>
          <p:cNvPr id="35" name="Text 21"/>
          <p:cNvSpPr txBox="1"/>
          <p:nvPr/>
        </p:nvSpPr>
        <p:spPr>
          <a:xfrm>
            <a:off x="4936846" y="3066898"/>
            <a:ext cx="27057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사용자가 이해할 수 있도록 항목별 추천 및 비추천 근거 제시</a:t>
            </a:r>
            <a:endParaRPr lang="en-US" sz="1000" dirty="0"/>
          </a:p>
        </p:txBody>
      </p:sp>
      <p:pic>
        <p:nvPicPr>
          <p:cNvPr id="36" name="Image 12" descr="preencoded.png">    </p:cNvPr>
          <p:cNvPicPr>
            <a:picLocks noChangeAspect="1"/>
          </p:cNvPicPr>
          <p:nvPr/>
        </p:nvPicPr>
        <p:blipFill>
          <a:blip r:embed="rId13"/>
          <a:srcRect l="-12275" r="-12275" t="0" b="0"/>
          <a:stretch/>
        </p:blipFill>
        <p:spPr>
          <a:xfrm>
            <a:off x="4632350" y="3681374"/>
            <a:ext cx="190195" cy="152705"/>
          </a:xfrm>
          <a:prstGeom prst="rect">
            <a:avLst/>
          </a:prstGeom>
        </p:spPr>
      </p:pic>
      <p:sp>
        <p:nvSpPr>
          <p:cNvPr id="37" name="Text 22"/>
          <p:cNvSpPr txBox="1"/>
          <p:nvPr/>
        </p:nvSpPr>
        <p:spPr>
          <a:xfrm>
            <a:off x="4936846" y="3633826"/>
            <a:ext cx="2734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갭(Gap) 분석</a:t>
            </a:r>
            <a:endParaRPr lang="en-US" sz="1300" dirty="0"/>
          </a:p>
        </p:txBody>
      </p:sp>
      <p:sp>
        <p:nvSpPr>
          <p:cNvPr id="38" name="Text 23"/>
          <p:cNvSpPr txBox="1"/>
          <p:nvPr/>
        </p:nvSpPr>
        <p:spPr>
          <a:xfrm>
            <a:off x="4936846" y="3938321"/>
            <a:ext cx="27057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자격과 요구사항 간의 차이를 분석하고 보완 가이드 제공</a:t>
            </a:r>
            <a:endParaRPr lang="en-US" sz="1000" dirty="0"/>
          </a:p>
        </p:txBody>
      </p:sp>
      <p:pic>
        <p:nvPicPr>
          <p:cNvPr id="39" name="Image 13" descr="preencoded.png">    </p:cNvPr>
          <p:cNvPicPr>
            <a:picLocks noChangeAspect="1"/>
          </p:cNvPicPr>
          <p:nvPr/>
        </p:nvPicPr>
        <p:blipFill>
          <a:blip r:embed="rId14"/>
          <a:srcRect l="-21172" r="-21172" t="0" b="0"/>
          <a:stretch/>
        </p:blipFill>
        <p:spPr>
          <a:xfrm>
            <a:off x="4632350" y="4496105"/>
            <a:ext cx="190195" cy="152705"/>
          </a:xfrm>
          <a:prstGeom prst="rect">
            <a:avLst/>
          </a:prstGeom>
        </p:spPr>
      </p:pic>
      <p:sp>
        <p:nvSpPr>
          <p:cNvPr id="40" name="Text 24"/>
          <p:cNvSpPr txBox="1"/>
          <p:nvPr/>
        </p:nvSpPr>
        <p:spPr>
          <a:xfrm>
            <a:off x="4936846" y="4448556"/>
            <a:ext cx="28200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알림/캘린더</a:t>
            </a:r>
            <a:endParaRPr lang="en-US" sz="1300" dirty="0"/>
          </a:p>
        </p:txBody>
      </p:sp>
      <p:sp>
        <p:nvSpPr>
          <p:cNvPr id="41" name="Text 25"/>
          <p:cNvSpPr txBox="1"/>
          <p:nvPr/>
        </p:nvSpPr>
        <p:spPr>
          <a:xfrm>
            <a:off x="4936846" y="4753051"/>
            <a:ext cx="27057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마감 임박, 수정공고, 질의응답 일정 실시간 추적 및 알림</a:t>
            </a:r>
            <a:endParaRPr lang="en-US" sz="1000" dirty="0"/>
          </a:p>
        </p:txBody>
      </p:sp>
      <p:sp>
        <p:nvSpPr>
          <p:cNvPr id="42" name="Shape 26"/>
          <p:cNvSpPr/>
          <p:nvPr/>
        </p:nvSpPr>
        <p:spPr>
          <a:xfrm>
            <a:off x="8492947" y="2000707"/>
            <a:ext cx="457200" cy="45720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pic>
        <p:nvPicPr>
          <p:cNvPr id="43" name="Image 14" descr="preencoded.png">    </p:cNvPr>
          <p:cNvPicPr>
            <a:picLocks noChangeAspect="1"/>
          </p:cNvPicPr>
          <p:nvPr/>
        </p:nvPicPr>
        <p:blipFill>
          <a:blip r:embed="rId15"/>
          <a:srcRect l="-1282" r="-1282" t="0" b="0"/>
          <a:stretch/>
        </p:blipFill>
        <p:spPr>
          <a:xfrm>
            <a:off x="8611819" y="2133295"/>
            <a:ext cx="219456" cy="190195"/>
          </a:xfrm>
          <a:prstGeom prst="rect">
            <a:avLst/>
          </a:prstGeom>
        </p:spPr>
      </p:pic>
      <p:sp>
        <p:nvSpPr>
          <p:cNvPr id="44" name="Text 27"/>
          <p:cNvSpPr txBox="1"/>
          <p:nvPr/>
        </p:nvSpPr>
        <p:spPr>
          <a:xfrm>
            <a:off x="9102852" y="1923898"/>
            <a:ext cx="141000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차별화 기능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Advanced Features</a:t>
            </a:r>
            <a:endParaRPr lang="en-US" sz="1800" dirty="0"/>
          </a:p>
        </p:txBody>
      </p:sp>
      <p:pic>
        <p:nvPicPr>
          <p:cNvPr id="45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-24" b="-24"/>
          <a:stretch/>
        </p:blipFill>
        <p:spPr>
          <a:xfrm>
            <a:off x="8492947" y="2762402"/>
            <a:ext cx="2926994" cy="476402"/>
          </a:xfrm>
          <a:prstGeom prst="rect">
            <a:avLst/>
          </a:prstGeom>
        </p:spPr>
      </p:pic>
      <p:pic>
        <p:nvPicPr>
          <p:cNvPr id="46" name="Image 16" descr="preencoded.png">    </p:cNvPr>
          <p:cNvPicPr>
            <a:picLocks noChangeAspect="1"/>
          </p:cNvPicPr>
          <p:nvPr/>
        </p:nvPicPr>
        <p:blipFill>
          <a:blip r:embed="rId17"/>
          <a:srcRect l="-21172" r="-21172" t="0" b="0"/>
          <a:stretch/>
        </p:blipFill>
        <p:spPr>
          <a:xfrm>
            <a:off x="8617306" y="2924251"/>
            <a:ext cx="190195" cy="152705"/>
          </a:xfrm>
          <a:prstGeom prst="rect">
            <a:avLst/>
          </a:prstGeom>
        </p:spPr>
      </p:pic>
      <p:sp>
        <p:nvSpPr>
          <p:cNvPr id="47" name="Text 28"/>
          <p:cNvSpPr txBox="1"/>
          <p:nvPr/>
        </p:nvSpPr>
        <p:spPr>
          <a:xfrm>
            <a:off x="8921801" y="2885846"/>
            <a:ext cx="17657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선정 가능성 시뮬레이션</a:t>
            </a:r>
            <a:endParaRPr lang="en-US" sz="1200" dirty="0"/>
          </a:p>
        </p:txBody>
      </p:sp>
      <p:pic>
        <p:nvPicPr>
          <p:cNvPr id="48" name="Image 17" descr="preencoded.png">    </p:cNvPr>
          <p:cNvPicPr>
            <a:picLocks noChangeAspect="1"/>
          </p:cNvPicPr>
          <p:nvPr/>
        </p:nvPicPr>
        <p:blipFill>
          <a:blip r:embed="rId18"/>
          <a:srcRect l="-16" r="-16" t="0" b="0"/>
          <a:stretch/>
        </p:blipFill>
        <p:spPr>
          <a:xfrm>
            <a:off x="8492947" y="3390595"/>
            <a:ext cx="2926994" cy="647395"/>
          </a:xfrm>
          <a:prstGeom prst="rect">
            <a:avLst/>
          </a:prstGeom>
        </p:spPr>
      </p:pic>
      <p:pic>
        <p:nvPicPr>
          <p:cNvPr id="49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-180" b="-180"/>
          <a:stretch/>
        </p:blipFill>
        <p:spPr>
          <a:xfrm>
            <a:off x="8617306" y="3552444"/>
            <a:ext cx="190195" cy="152705"/>
          </a:xfrm>
          <a:prstGeom prst="rect">
            <a:avLst/>
          </a:prstGeom>
        </p:spPr>
      </p:pic>
      <p:sp>
        <p:nvSpPr>
          <p:cNvPr id="50" name="Text 29"/>
          <p:cNvSpPr txBox="1"/>
          <p:nvPr/>
        </p:nvSpPr>
        <p:spPr>
          <a:xfrm>
            <a:off x="8921801" y="3514954"/>
            <a:ext cx="1666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데이터 연동</a:t>
            </a:r>
            <a:endParaRPr lang="en-US" sz="1200" dirty="0"/>
          </a:p>
        </p:txBody>
      </p:sp>
      <p:sp>
        <p:nvSpPr>
          <p:cNvPr id="51" name="Text 30"/>
          <p:cNvSpPr txBox="1"/>
          <p:nvPr/>
        </p:nvSpPr>
        <p:spPr>
          <a:xfrm>
            <a:off x="8921801" y="3762756"/>
            <a:ext cx="18370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R&amp;D 이력, 인력 CV, 기존 제안서</a:t>
            </a:r>
            <a:endParaRPr lang="en-US" sz="900" dirty="0"/>
          </a:p>
        </p:txBody>
      </p:sp>
      <p:pic>
        <p:nvPicPr>
          <p:cNvPr id="52" name="Image 19" descr="preencoded.png">    </p:cNvPr>
          <p:cNvPicPr>
            <a:picLocks noChangeAspect="1"/>
          </p:cNvPicPr>
          <p:nvPr/>
        </p:nvPicPr>
        <p:blipFill>
          <a:blip r:embed="rId20"/>
          <a:srcRect l="-16" r="-16" t="0" b="0"/>
          <a:stretch/>
        </p:blipFill>
        <p:spPr>
          <a:xfrm>
            <a:off x="8492947" y="4190695"/>
            <a:ext cx="2926994" cy="647395"/>
          </a:xfrm>
          <a:prstGeom prst="rect">
            <a:avLst/>
          </a:prstGeom>
        </p:spPr>
      </p:pic>
      <p:pic>
        <p:nvPicPr>
          <p:cNvPr id="53" name="Image 20" descr="preencoded.png">    </p:cNvPr>
          <p:cNvPicPr>
            <a:picLocks noChangeAspect="1"/>
          </p:cNvPicPr>
          <p:nvPr/>
        </p:nvPicPr>
        <p:blipFill>
          <a:blip r:embed="rId21"/>
          <a:srcRect l="-5356" r="-5356" t="0" b="0"/>
          <a:stretch/>
        </p:blipFill>
        <p:spPr>
          <a:xfrm>
            <a:off x="8617306" y="4352544"/>
            <a:ext cx="190195" cy="152705"/>
          </a:xfrm>
          <a:prstGeom prst="rect">
            <a:avLst/>
          </a:prstGeom>
        </p:spPr>
      </p:pic>
      <p:sp>
        <p:nvSpPr>
          <p:cNvPr id="54" name="Text 31"/>
          <p:cNvSpPr txBox="1"/>
          <p:nvPr/>
        </p:nvSpPr>
        <p:spPr>
          <a:xfrm>
            <a:off x="8921801" y="4315054"/>
            <a:ext cx="1860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제안서 템플릿 자동 생성</a:t>
            </a:r>
            <a:endParaRPr lang="en-US" sz="1200" dirty="0"/>
          </a:p>
        </p:txBody>
      </p:sp>
      <p:sp>
        <p:nvSpPr>
          <p:cNvPr id="55" name="Text 32"/>
          <p:cNvSpPr txBox="1"/>
          <p:nvPr/>
        </p:nvSpPr>
        <p:spPr>
          <a:xfrm>
            <a:off x="8921801" y="4562856"/>
            <a:ext cx="165689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목차, 핵심문장, 체크리스트</a:t>
            </a:r>
            <a:endParaRPr lang="en-US" sz="900" dirty="0"/>
          </a:p>
        </p:txBody>
      </p:sp>
      <p:pic>
        <p:nvPicPr>
          <p:cNvPr id="56" name="Image 21" descr="preencoded.png">    </p:cNvPr>
          <p:cNvPicPr>
            <a:picLocks noChangeAspect="1"/>
          </p:cNvPicPr>
          <p:nvPr/>
        </p:nvPicPr>
        <p:blipFill>
          <a:blip r:embed="rId22"/>
          <a:srcRect l="-16" r="-16" t="0" b="0"/>
          <a:stretch/>
        </p:blipFill>
        <p:spPr>
          <a:xfrm>
            <a:off x="8492947" y="4990795"/>
            <a:ext cx="2926994" cy="647395"/>
          </a:xfrm>
          <a:prstGeom prst="rect">
            <a:avLst/>
          </a:prstGeom>
        </p:spPr>
      </p:pic>
      <p:pic>
        <p:nvPicPr>
          <p:cNvPr id="57" name="Image 22" descr="preencoded.png">    </p:cNvPr>
          <p:cNvPicPr>
            <a:picLocks noChangeAspect="1"/>
          </p:cNvPicPr>
          <p:nvPr/>
        </p:nvPicPr>
        <p:blipFill>
          <a:blip r:embed="rId23"/>
          <a:srcRect l="-5356" r="-5356" t="0" b="0"/>
          <a:stretch/>
        </p:blipFill>
        <p:spPr>
          <a:xfrm>
            <a:off x="8617306" y="5152644"/>
            <a:ext cx="190195" cy="152705"/>
          </a:xfrm>
          <a:prstGeom prst="rect">
            <a:avLst/>
          </a:prstGeom>
        </p:spPr>
      </p:pic>
      <p:sp>
        <p:nvSpPr>
          <p:cNvPr id="58" name="Text 33"/>
          <p:cNvSpPr txBox="1"/>
          <p:nvPr/>
        </p:nvSpPr>
        <p:spPr>
          <a:xfrm>
            <a:off x="8921801" y="5115154"/>
            <a:ext cx="14923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역할별 대시보드</a:t>
            </a:r>
            <a:endParaRPr lang="en-US" sz="1200" dirty="0"/>
          </a:p>
        </p:txBody>
      </p:sp>
      <p:sp>
        <p:nvSpPr>
          <p:cNvPr id="59" name="Text 34"/>
          <p:cNvSpPr txBox="1"/>
          <p:nvPr/>
        </p:nvSpPr>
        <p:spPr>
          <a:xfrm>
            <a:off x="8921801" y="5362956"/>
            <a:ext cx="17291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/ 사업개발 / 연구책임자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19810"/>
            <a:ext cx="112772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7200"/>
            <a:ext cx="36576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2" kern="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DATA STRUCTURE &amp; DOCUMENTS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519470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구조 및 입력 문서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9974275" y="590702"/>
            <a:ext cx="176570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정부 사업과제 추천 시스템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197389" y="780898"/>
            <a:ext cx="15435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기획안 v2.0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457554"/>
            <a:ext cx="4572000" cy="5009998"/>
          </a:xfrm>
          <a:prstGeom prst="roundRect">
            <a:avLst>
              <a:gd name="adj" fmla="val 500"/>
            </a:avLst>
          </a:prstGeom>
          <a:solidFill>
            <a:srgbClr val="F8FAFC">
              <a:alpha val="80000"/>
            </a:srgbClr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028700" y="1695298"/>
            <a:ext cx="39529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 데이터 6대 분류 </a:t>
            </a:r>
            <a:endParaRPr lang="en-US" sz="15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-1282" r="-1282" t="0" b="0"/>
          <a:stretch/>
        </p:blipFill>
        <p:spPr>
          <a:xfrm>
            <a:off x="694944" y="1733702"/>
            <a:ext cx="219456" cy="19019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94944" y="2152498"/>
            <a:ext cx="4095598" cy="533095"/>
          </a:xfrm>
          <a:prstGeom prst="roundRect">
            <a:avLst>
              <a:gd name="adj" fmla="val 24504"/>
            </a:avLst>
          </a:prstGeom>
          <a:solidFill>
            <a:srgbClr val="F1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694944" y="2152498"/>
            <a:ext cx="28346" cy="533095"/>
          </a:xfrm>
          <a:prstGeom prst="roundRect">
            <a:avLst>
              <a:gd name="adj" fmla="val 460836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19302" y="2266798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-2512" r="-2512" t="0" b="0"/>
          <a:stretch/>
        </p:blipFill>
        <p:spPr>
          <a:xfrm>
            <a:off x="918972" y="2352751"/>
            <a:ext cx="105156" cy="13350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238098" y="2247595"/>
            <a:ext cx="185166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기본/법적 서류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1238098" y="2438705"/>
            <a:ext cx="2057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사업자등록증, 법인등기부, 재무제표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94944" y="2838298"/>
            <a:ext cx="4095598" cy="533095"/>
          </a:xfrm>
          <a:prstGeom prst="roundRect">
            <a:avLst>
              <a:gd name="adj" fmla="val 24504"/>
            </a:avLst>
          </a:prstGeom>
          <a:solidFill>
            <a:srgbClr val="F1F5F9"/>
          </a:solidFill>
          <a:ln/>
        </p:spPr>
      </p:sp>
      <p:sp>
        <p:nvSpPr>
          <p:cNvPr id="19" name="Shape 15"/>
          <p:cNvSpPr/>
          <p:nvPr/>
        </p:nvSpPr>
        <p:spPr>
          <a:xfrm>
            <a:off x="694944" y="2838298"/>
            <a:ext cx="28346" cy="533095"/>
          </a:xfrm>
          <a:prstGeom prst="roundRect">
            <a:avLst>
              <a:gd name="adj" fmla="val 460836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19302" y="2952598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05256" y="3038551"/>
            <a:ext cx="133502" cy="13350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238098" y="2933395"/>
            <a:ext cx="19549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기술/제품 자료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1238098" y="3124505"/>
            <a:ext cx="227137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설명서, 특허, 인증서, 회사소개서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694944" y="3524098"/>
            <a:ext cx="4095598" cy="533095"/>
          </a:xfrm>
          <a:prstGeom prst="roundRect">
            <a:avLst>
              <a:gd name="adj" fmla="val 24504"/>
            </a:avLst>
          </a:prstGeom>
          <a:solidFill>
            <a:srgbClr val="F1F5F9"/>
          </a:solidFill>
          <a:ln/>
        </p:spPr>
      </p:sp>
      <p:sp>
        <p:nvSpPr>
          <p:cNvPr id="25" name="Shape 20"/>
          <p:cNvSpPr/>
          <p:nvPr/>
        </p:nvSpPr>
        <p:spPr>
          <a:xfrm>
            <a:off x="694944" y="3524098"/>
            <a:ext cx="28346" cy="533095"/>
          </a:xfrm>
          <a:prstGeom prst="roundRect">
            <a:avLst>
              <a:gd name="adj" fmla="val 460836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19302" y="3638398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rcRect l="-1507" r="-1507" t="0" b="0"/>
          <a:stretch/>
        </p:blipFill>
        <p:spPr>
          <a:xfrm>
            <a:off x="886054" y="3724351"/>
            <a:ext cx="171907" cy="13350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238098" y="3619195"/>
            <a:ext cx="150235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인력/조직 자료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1238098" y="3810305"/>
            <a:ext cx="175747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참여 인력 CV, 자격증, 조직도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694944" y="4209898"/>
            <a:ext cx="4095598" cy="533095"/>
          </a:xfrm>
          <a:prstGeom prst="roundRect">
            <a:avLst>
              <a:gd name="adj" fmla="val 24504"/>
            </a:avLst>
          </a:prstGeom>
          <a:solidFill>
            <a:srgbClr val="F1F5F9"/>
          </a:solidFill>
          <a:ln/>
        </p:spPr>
      </p:sp>
      <p:sp>
        <p:nvSpPr>
          <p:cNvPr id="31" name="Shape 25"/>
          <p:cNvSpPr/>
          <p:nvPr/>
        </p:nvSpPr>
        <p:spPr>
          <a:xfrm>
            <a:off x="694944" y="4209898"/>
            <a:ext cx="28346" cy="533095"/>
          </a:xfrm>
          <a:prstGeom prst="roundRect">
            <a:avLst>
              <a:gd name="adj" fmla="val 460836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819302" y="4324198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rcRect l="-837" r="-837" t="0" b="0"/>
          <a:stretch/>
        </p:blipFill>
        <p:spPr>
          <a:xfrm>
            <a:off x="895198" y="4410151"/>
            <a:ext cx="152705" cy="133502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238098" y="4304995"/>
            <a:ext cx="150235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수행실적/신뢰 자료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1238098" y="4496105"/>
            <a:ext cx="170261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정부과제 실적, 민간 레퍼런스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694944" y="4895698"/>
            <a:ext cx="4095598" cy="533095"/>
          </a:xfrm>
          <a:prstGeom prst="roundRect">
            <a:avLst>
              <a:gd name="adj" fmla="val 24504"/>
            </a:avLst>
          </a:prstGeom>
          <a:solidFill>
            <a:srgbClr val="F1F5F9"/>
          </a:solidFill>
          <a:ln/>
        </p:spPr>
      </p:sp>
      <p:sp>
        <p:nvSpPr>
          <p:cNvPr id="37" name="Shape 30"/>
          <p:cNvSpPr/>
          <p:nvPr/>
        </p:nvSpPr>
        <p:spPr>
          <a:xfrm>
            <a:off x="694944" y="4895698"/>
            <a:ext cx="28346" cy="533095"/>
          </a:xfrm>
          <a:prstGeom prst="roundRect">
            <a:avLst>
              <a:gd name="adj" fmla="val 460836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819302" y="5009998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100" b="-1100"/>
          <a:stretch/>
        </p:blipFill>
        <p:spPr>
          <a:xfrm>
            <a:off x="914400" y="5095951"/>
            <a:ext cx="114300" cy="133502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1238098" y="4990795"/>
            <a:ext cx="168706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 데이터 (수집)</a:t>
            </a:r>
            <a:endParaRPr lang="en-US" sz="1000" dirty="0"/>
          </a:p>
        </p:txBody>
      </p:sp>
      <p:sp>
        <p:nvSpPr>
          <p:cNvPr id="41" name="Text 33"/>
          <p:cNvSpPr txBox="1"/>
          <p:nvPr/>
        </p:nvSpPr>
        <p:spPr>
          <a:xfrm>
            <a:off x="1238098" y="5181905"/>
            <a:ext cx="196321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공고문, 자격요건, 평가항목, 예산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694944" y="5581498"/>
            <a:ext cx="4095598" cy="533095"/>
          </a:xfrm>
          <a:prstGeom prst="roundRect">
            <a:avLst>
              <a:gd name="adj" fmla="val 24504"/>
            </a:avLst>
          </a:prstGeom>
          <a:solidFill>
            <a:srgbClr val="F1F5F9"/>
          </a:solidFill>
          <a:ln/>
        </p:spPr>
      </p:sp>
      <p:sp>
        <p:nvSpPr>
          <p:cNvPr id="43" name="Shape 35"/>
          <p:cNvSpPr/>
          <p:nvPr/>
        </p:nvSpPr>
        <p:spPr>
          <a:xfrm>
            <a:off x="694944" y="5581498"/>
            <a:ext cx="28346" cy="533095"/>
          </a:xfrm>
          <a:prstGeom prst="roundRect">
            <a:avLst>
              <a:gd name="adj" fmla="val 460836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819302" y="5695798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05256" y="5781751"/>
            <a:ext cx="133502" cy="133502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1238098" y="5676595"/>
            <a:ext cx="18004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메타데이터</a:t>
            </a:r>
            <a:endParaRPr lang="en-US" sz="1000" dirty="0"/>
          </a:p>
        </p:txBody>
      </p:sp>
      <p:sp>
        <p:nvSpPr>
          <p:cNvPr id="47" name="Text 38"/>
          <p:cNvSpPr txBox="1"/>
          <p:nvPr/>
        </p:nvSpPr>
        <p:spPr>
          <a:xfrm>
            <a:off x="1238098" y="5867705"/>
            <a:ext cx="20811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출처, 신뢰도 레벨, 유효기간</a:t>
            </a:r>
            <a:endParaRPr lang="en-US" sz="900" dirty="0"/>
          </a:p>
        </p:txBody>
      </p:sp>
      <p:sp>
        <p:nvSpPr>
          <p:cNvPr id="48" name="Shape 39"/>
          <p:cNvSpPr/>
          <p:nvPr/>
        </p:nvSpPr>
        <p:spPr>
          <a:xfrm>
            <a:off x="5333695" y="1457554"/>
            <a:ext cx="6400800" cy="5009998"/>
          </a:xfrm>
          <a:prstGeom prst="roundRect">
            <a:avLst>
              <a:gd name="adj" fmla="val 416"/>
            </a:avLst>
          </a:prstGeom>
          <a:solidFill>
            <a:srgbClr val="F8FAFC">
              <a:alpha val="80000"/>
            </a:srgbClr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49" name="Text 40"/>
          <p:cNvSpPr txBox="1"/>
          <p:nvPr/>
        </p:nvSpPr>
        <p:spPr>
          <a:xfrm>
            <a:off x="5906110" y="1695298"/>
            <a:ext cx="5705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데이터 스키마 (ERD) </a:t>
            </a:r>
            <a:endParaRPr lang="en-US" sz="1500" dirty="0"/>
          </a:p>
        </p:txBody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rcRect l="-1282" r="-1282" t="0" b="0"/>
          <a:stretch/>
        </p:blipFill>
        <p:spPr>
          <a:xfrm>
            <a:off x="5572354" y="1733702"/>
            <a:ext cx="219456" cy="190195"/>
          </a:xfrm>
          <a:prstGeom prst="rect">
            <a:avLst/>
          </a:prstGeom>
        </p:spPr>
      </p:pic>
      <p:sp>
        <p:nvSpPr>
          <p:cNvPr id="51" name="Text 41"/>
          <p:cNvSpPr txBox="1"/>
          <p:nvPr/>
        </p:nvSpPr>
        <p:spPr>
          <a:xfrm>
            <a:off x="5609844" y="2038198"/>
            <a:ext cx="6077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엔티티의 최소 필드 정의 및 관계 구조</a:t>
            </a:r>
            <a:endParaRPr lang="en-US" sz="900" dirty="0"/>
          </a:p>
        </p:txBody>
      </p:sp>
      <p:pic>
        <p:nvPicPr>
          <p:cNvPr id="52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572354" y="2419502"/>
            <a:ext cx="5924398" cy="4533595"/>
          </a:xfrm>
          <a:prstGeom prst="rect">
            <a:avLst/>
          </a:prstGeom>
        </p:spPr>
      </p:pic>
      <p:sp>
        <p:nvSpPr>
          <p:cNvPr id="53" name="Shape 42"/>
          <p:cNvSpPr/>
          <p:nvPr/>
        </p:nvSpPr>
        <p:spPr>
          <a:xfrm>
            <a:off x="5572354" y="5333695"/>
            <a:ext cx="5924398" cy="895198"/>
          </a:xfrm>
          <a:prstGeom prst="roundRect">
            <a:avLst>
              <a:gd name="adj" fmla="val 4347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5695798" y="5495544"/>
            <a:ext cx="152705" cy="152705"/>
          </a:xfrm>
          <a:prstGeom prst="rect">
            <a:avLst/>
          </a:prstGeom>
        </p:spPr>
      </p:pic>
      <p:sp>
        <p:nvSpPr>
          <p:cNvPr id="55" name="Text 43"/>
          <p:cNvSpPr txBox="1"/>
          <p:nvPr/>
        </p:nvSpPr>
        <p:spPr>
          <a:xfrm>
            <a:off x="5924398" y="5458054"/>
            <a:ext cx="56391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처리 전략</a:t>
            </a:r>
            <a:endParaRPr lang="en-US" sz="900" dirty="0"/>
          </a:p>
        </p:txBody>
      </p:sp>
      <p:sp>
        <p:nvSpPr>
          <p:cNvPr id="56" name="Text 44"/>
          <p:cNvSpPr txBox="1"/>
          <p:nvPr/>
        </p:nvSpPr>
        <p:spPr>
          <a:xfrm>
            <a:off x="5924398" y="5648249"/>
            <a:ext cx="55248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HWPX는 XML(OWPML) 기반 추출, PDF는 디지털 파싱 우선 후 OCR 적용. 추출 신뢰도 점수를 저장하여 저신뢰 항목은 수동 검수 큐로 이관.</a:t>
            </a:r>
            <a:endParaRPr lang="en-US" sz="1200" dirty="0"/>
          </a:p>
        </p:txBody>
      </p:sp>
      <p:sp>
        <p:nvSpPr>
          <p:cNvPr id="57" name="Shape 45"/>
          <p:cNvSpPr/>
          <p:nvPr/>
        </p:nvSpPr>
        <p:spPr>
          <a:xfrm>
            <a:off x="457200" y="6010351"/>
            <a:ext cx="4067251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8" name="Text 46"/>
          <p:cNvSpPr txBox="1"/>
          <p:nvPr/>
        </p:nvSpPr>
        <p:spPr>
          <a:xfrm>
            <a:off x="457200" y="6248095"/>
            <a:ext cx="43104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2025 Government Project Recommendation System. Confidential.</a:t>
            </a:r>
            <a:endParaRPr lang="en-US" sz="900" dirty="0"/>
          </a:p>
        </p:txBody>
      </p:sp>
      <p:sp>
        <p:nvSpPr>
          <p:cNvPr id="59" name="Text 47"/>
          <p:cNvSpPr txBox="1"/>
          <p:nvPr/>
        </p:nvSpPr>
        <p:spPr>
          <a:xfrm>
            <a:off x="4101084" y="6248095"/>
            <a:ext cx="4974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05</a:t>
            </a:r>
            <a:endParaRPr lang="en-US" sz="900" dirty="0"/>
          </a:p>
        </p:txBody>
      </p:sp>
      <p:pic>
        <p:nvPicPr>
          <p:cNvPr id="60" name="Image 10" descr="preencoded.png">    </p:cNvPr>
          <p:cNvPicPr>
            <a:picLocks noChangeAspect="1"/>
          </p:cNvPicPr>
          <p:nvPr/>
        </p:nvPicPr>
        <p:blipFill>
          <a:blip r:embed="rId11"/>
          <a:srcRect l="-6" r="-6" t="0" b="0"/>
          <a:stretch/>
        </p:blipFill>
        <p:spPr>
          <a:xfrm>
            <a:off x="5572354" y="2572207"/>
            <a:ext cx="2199132" cy="2566721"/>
          </a:xfrm>
          <a:prstGeom prst="rect">
            <a:avLst/>
          </a:prstGeom>
        </p:spPr>
      </p:pic>
      <p:sp>
        <p:nvSpPr>
          <p:cNvPr id="61" name="Shape 48"/>
          <p:cNvSpPr/>
          <p:nvPr/>
        </p:nvSpPr>
        <p:spPr>
          <a:xfrm>
            <a:off x="5581498" y="2581351"/>
            <a:ext cx="2180844" cy="428854"/>
          </a:xfrm>
          <a:prstGeom prst="roundRect">
            <a:avLst>
              <a:gd name="adj" fmla="val 473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49"/>
          <p:cNvSpPr txBox="1"/>
          <p:nvPr/>
        </p:nvSpPr>
        <p:spPr>
          <a:xfrm>
            <a:off x="5962802" y="2676449"/>
            <a:ext cx="790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Company</a:t>
            </a:r>
            <a:endParaRPr lang="en-US" sz="1200" dirty="0"/>
          </a:p>
        </p:txBody>
      </p:sp>
      <p:sp>
        <p:nvSpPr>
          <p:cNvPr id="63" name="Text 50"/>
          <p:cNvSpPr txBox="1"/>
          <p:nvPr/>
        </p:nvSpPr>
        <p:spPr>
          <a:xfrm>
            <a:off x="6675120" y="2714854"/>
            <a:ext cx="112288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PostgreSQL Table</a:t>
            </a:r>
            <a:endParaRPr lang="en-US" sz="900" dirty="0"/>
          </a:p>
        </p:txBody>
      </p:sp>
      <p:sp>
        <p:nvSpPr>
          <p:cNvPr id="64" name="Shape 51"/>
          <p:cNvSpPr/>
          <p:nvPr/>
        </p:nvSpPr>
        <p:spPr>
          <a:xfrm>
            <a:off x="5734202" y="3391510"/>
            <a:ext cx="1876349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65" name="Text 52"/>
          <p:cNvSpPr txBox="1"/>
          <p:nvPr/>
        </p:nvSpPr>
        <p:spPr>
          <a:xfrm>
            <a:off x="5896051" y="3161995"/>
            <a:ext cx="8293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company_id</a:t>
            </a:r>
            <a:endParaRPr lang="en-US" sz="900" dirty="0"/>
          </a:p>
        </p:txBody>
      </p:sp>
      <p:sp>
        <p:nvSpPr>
          <p:cNvPr id="66" name="Text 53"/>
          <p:cNvSpPr txBox="1"/>
          <p:nvPr/>
        </p:nvSpPr>
        <p:spPr>
          <a:xfrm>
            <a:off x="7312457" y="3161995"/>
            <a:ext cx="381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lang="en-US" sz="900" dirty="0"/>
          </a:p>
        </p:txBody>
      </p:sp>
      <p:sp>
        <p:nvSpPr>
          <p:cNvPr id="67" name="Shape 54"/>
          <p:cNvSpPr/>
          <p:nvPr/>
        </p:nvSpPr>
        <p:spPr>
          <a:xfrm>
            <a:off x="5734202" y="3663086"/>
            <a:ext cx="1876349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68" name="Text 55"/>
          <p:cNvSpPr txBox="1"/>
          <p:nvPr/>
        </p:nvSpPr>
        <p:spPr>
          <a:xfrm>
            <a:off x="5734202" y="3433572"/>
            <a:ext cx="8293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biz_number</a:t>
            </a:r>
            <a:endParaRPr lang="en-US" sz="900" dirty="0"/>
          </a:p>
        </p:txBody>
      </p:sp>
      <p:sp>
        <p:nvSpPr>
          <p:cNvPr id="69" name="Text 56"/>
          <p:cNvSpPr txBox="1"/>
          <p:nvPr/>
        </p:nvSpPr>
        <p:spPr>
          <a:xfrm>
            <a:off x="7015277" y="3433572"/>
            <a:ext cx="6766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CHAR(10)</a:t>
            </a:r>
            <a:endParaRPr lang="en-US" sz="900" dirty="0"/>
          </a:p>
        </p:txBody>
      </p:sp>
      <p:sp>
        <p:nvSpPr>
          <p:cNvPr id="70" name="Shape 57"/>
          <p:cNvSpPr/>
          <p:nvPr/>
        </p:nvSpPr>
        <p:spPr>
          <a:xfrm>
            <a:off x="5734202" y="3933749"/>
            <a:ext cx="1876349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71" name="Text 58"/>
          <p:cNvSpPr txBox="1"/>
          <p:nvPr/>
        </p:nvSpPr>
        <p:spPr>
          <a:xfrm>
            <a:off x="5734202" y="3705149"/>
            <a:ext cx="10479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industry_code</a:t>
            </a:r>
            <a:endParaRPr lang="en-US" sz="900" dirty="0"/>
          </a:p>
        </p:txBody>
      </p:sp>
      <p:sp>
        <p:nvSpPr>
          <p:cNvPr id="72" name="Text 59"/>
          <p:cNvSpPr txBox="1"/>
          <p:nvPr/>
        </p:nvSpPr>
        <p:spPr>
          <a:xfrm>
            <a:off x="7089343" y="3705149"/>
            <a:ext cx="6007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endParaRPr lang="en-US" sz="900" dirty="0"/>
          </a:p>
        </p:txBody>
      </p:sp>
      <p:sp>
        <p:nvSpPr>
          <p:cNvPr id="73" name="Shape 60"/>
          <p:cNvSpPr/>
          <p:nvPr/>
        </p:nvSpPr>
        <p:spPr>
          <a:xfrm>
            <a:off x="5734202" y="4205326"/>
            <a:ext cx="1876349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74" name="Text 61"/>
          <p:cNvSpPr txBox="1"/>
          <p:nvPr/>
        </p:nvSpPr>
        <p:spPr>
          <a:xfrm>
            <a:off x="5734202" y="3976726"/>
            <a:ext cx="9720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company_size</a:t>
            </a:r>
            <a:endParaRPr lang="en-US" sz="900" dirty="0"/>
          </a:p>
        </p:txBody>
      </p:sp>
      <p:sp>
        <p:nvSpPr>
          <p:cNvPr id="75" name="Text 62"/>
          <p:cNvSpPr txBox="1"/>
          <p:nvPr/>
        </p:nvSpPr>
        <p:spPr>
          <a:xfrm>
            <a:off x="7312457" y="3976726"/>
            <a:ext cx="381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endParaRPr lang="en-US" sz="900" dirty="0"/>
          </a:p>
        </p:txBody>
      </p:sp>
      <p:sp>
        <p:nvSpPr>
          <p:cNvPr id="76" name="Shape 63"/>
          <p:cNvSpPr/>
          <p:nvPr/>
        </p:nvSpPr>
        <p:spPr>
          <a:xfrm>
            <a:off x="5734202" y="4476902"/>
            <a:ext cx="1876349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77" name="Text 64"/>
          <p:cNvSpPr txBox="1"/>
          <p:nvPr/>
        </p:nvSpPr>
        <p:spPr>
          <a:xfrm>
            <a:off x="5734202" y="4248302"/>
            <a:ext cx="14959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certifications_json</a:t>
            </a:r>
            <a:endParaRPr lang="en-US" sz="900" dirty="0"/>
          </a:p>
        </p:txBody>
      </p:sp>
      <p:sp>
        <p:nvSpPr>
          <p:cNvPr id="78" name="Text 65"/>
          <p:cNvSpPr txBox="1"/>
          <p:nvPr/>
        </p:nvSpPr>
        <p:spPr>
          <a:xfrm>
            <a:off x="7237476" y="4248302"/>
            <a:ext cx="4572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JSONB</a:t>
            </a:r>
            <a:endParaRPr lang="en-US" sz="900" dirty="0"/>
          </a:p>
        </p:txBody>
      </p:sp>
      <p:sp>
        <p:nvSpPr>
          <p:cNvPr id="79" name="Shape 66"/>
          <p:cNvSpPr/>
          <p:nvPr/>
        </p:nvSpPr>
        <p:spPr>
          <a:xfrm>
            <a:off x="5734202" y="4748479"/>
            <a:ext cx="1876349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80" name="Text 67"/>
          <p:cNvSpPr txBox="1"/>
          <p:nvPr/>
        </p:nvSpPr>
        <p:spPr>
          <a:xfrm>
            <a:off x="5734202" y="4519879"/>
            <a:ext cx="10479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tech_keywords</a:t>
            </a:r>
            <a:endParaRPr lang="en-US" sz="900" dirty="0"/>
          </a:p>
        </p:txBody>
      </p:sp>
      <p:sp>
        <p:nvSpPr>
          <p:cNvPr id="81" name="Text 68"/>
          <p:cNvSpPr txBox="1"/>
          <p:nvPr/>
        </p:nvSpPr>
        <p:spPr>
          <a:xfrm>
            <a:off x="7163410" y="4519879"/>
            <a:ext cx="5239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TEXT[]</a:t>
            </a:r>
            <a:endParaRPr lang="en-US" sz="900" dirty="0"/>
          </a:p>
        </p:txBody>
      </p:sp>
      <p:sp>
        <p:nvSpPr>
          <p:cNvPr id="82" name="Text 69"/>
          <p:cNvSpPr txBox="1"/>
          <p:nvPr/>
        </p:nvSpPr>
        <p:spPr>
          <a:xfrm>
            <a:off x="5734202" y="4791456"/>
            <a:ext cx="14200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past_projects_json</a:t>
            </a:r>
            <a:endParaRPr lang="en-US" sz="900" dirty="0"/>
          </a:p>
        </p:txBody>
      </p:sp>
      <p:sp>
        <p:nvSpPr>
          <p:cNvPr id="83" name="Text 70"/>
          <p:cNvSpPr txBox="1"/>
          <p:nvPr/>
        </p:nvSpPr>
        <p:spPr>
          <a:xfrm>
            <a:off x="7237476" y="4791456"/>
            <a:ext cx="4572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JSONB</a:t>
            </a:r>
            <a:endParaRPr lang="en-US" sz="900" dirty="0"/>
          </a:p>
        </p:txBody>
      </p:sp>
      <p:pic>
        <p:nvPicPr>
          <p:cNvPr id="84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100" b="-100"/>
          <a:stretch/>
        </p:blipFill>
        <p:spPr>
          <a:xfrm>
            <a:off x="5772607" y="2723998"/>
            <a:ext cx="114300" cy="152705"/>
          </a:xfrm>
          <a:prstGeom prst="rect">
            <a:avLst/>
          </a:prstGeom>
        </p:spPr>
      </p:pic>
      <p:pic>
        <p:nvPicPr>
          <p:cNvPr id="85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5734202" y="3168396"/>
            <a:ext cx="123444" cy="123444"/>
          </a:xfrm>
          <a:prstGeom prst="rect">
            <a:avLst/>
          </a:prstGeom>
        </p:spPr>
      </p:pic>
      <p:pic>
        <p:nvPicPr>
          <p:cNvPr id="86" name="Image 13" descr="preencoded.png">    </p:cNvPr>
          <p:cNvPicPr>
            <a:picLocks noChangeAspect="1"/>
          </p:cNvPicPr>
          <p:nvPr/>
        </p:nvPicPr>
        <p:blipFill>
          <a:blip r:embed="rId14"/>
          <a:srcRect l="-12" r="-12" t="0" b="0"/>
          <a:stretch/>
        </p:blipFill>
        <p:spPr>
          <a:xfrm>
            <a:off x="8827618" y="3486607"/>
            <a:ext cx="2669134" cy="2566721"/>
          </a:xfrm>
          <a:prstGeom prst="rect">
            <a:avLst/>
          </a:prstGeom>
        </p:spPr>
      </p:pic>
      <p:sp>
        <p:nvSpPr>
          <p:cNvPr id="87" name="Shape 71"/>
          <p:cNvSpPr/>
          <p:nvPr/>
        </p:nvSpPr>
        <p:spPr>
          <a:xfrm>
            <a:off x="8837676" y="3495751"/>
            <a:ext cx="2657246" cy="428854"/>
          </a:xfrm>
          <a:prstGeom prst="roundRect">
            <a:avLst>
              <a:gd name="adj" fmla="val 473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8" name="Text 72"/>
          <p:cNvSpPr txBox="1"/>
          <p:nvPr/>
        </p:nvSpPr>
        <p:spPr>
          <a:xfrm>
            <a:off x="9256471" y="3590849"/>
            <a:ext cx="12289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Announcement</a:t>
            </a:r>
            <a:endParaRPr lang="en-US" sz="1200" dirty="0"/>
          </a:p>
        </p:txBody>
      </p:sp>
      <p:sp>
        <p:nvSpPr>
          <p:cNvPr id="89" name="Text 73"/>
          <p:cNvSpPr txBox="1"/>
          <p:nvPr/>
        </p:nvSpPr>
        <p:spPr>
          <a:xfrm>
            <a:off x="10400386" y="3629254"/>
            <a:ext cx="112288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PostgreSQL Table</a:t>
            </a:r>
            <a:endParaRPr lang="en-US" sz="900" dirty="0"/>
          </a:p>
        </p:txBody>
      </p:sp>
      <p:sp>
        <p:nvSpPr>
          <p:cNvPr id="90" name="Shape 74"/>
          <p:cNvSpPr/>
          <p:nvPr/>
        </p:nvSpPr>
        <p:spPr>
          <a:xfrm>
            <a:off x="8989466" y="4305910"/>
            <a:ext cx="2352751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91" name="Text 75"/>
          <p:cNvSpPr txBox="1"/>
          <p:nvPr/>
        </p:nvSpPr>
        <p:spPr>
          <a:xfrm>
            <a:off x="9151315" y="4076395"/>
            <a:ext cx="12006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announcement_id</a:t>
            </a:r>
            <a:endParaRPr lang="en-US" sz="900" dirty="0"/>
          </a:p>
        </p:txBody>
      </p:sp>
      <p:sp>
        <p:nvSpPr>
          <p:cNvPr id="92" name="Text 76"/>
          <p:cNvSpPr txBox="1"/>
          <p:nvPr/>
        </p:nvSpPr>
        <p:spPr>
          <a:xfrm>
            <a:off x="11037722" y="4076395"/>
            <a:ext cx="381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lang="en-US" sz="900" dirty="0"/>
          </a:p>
        </p:txBody>
      </p:sp>
      <p:sp>
        <p:nvSpPr>
          <p:cNvPr id="93" name="Shape 77"/>
          <p:cNvSpPr/>
          <p:nvPr/>
        </p:nvSpPr>
        <p:spPr>
          <a:xfrm>
            <a:off x="8989466" y="4577486"/>
            <a:ext cx="2352751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94" name="Text 78"/>
          <p:cNvSpPr txBox="1"/>
          <p:nvPr/>
        </p:nvSpPr>
        <p:spPr>
          <a:xfrm>
            <a:off x="8989466" y="4347972"/>
            <a:ext cx="12006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source_platform</a:t>
            </a:r>
            <a:endParaRPr lang="en-US" sz="900" dirty="0"/>
          </a:p>
        </p:txBody>
      </p:sp>
      <p:sp>
        <p:nvSpPr>
          <p:cNvPr id="95" name="Text 79"/>
          <p:cNvSpPr txBox="1"/>
          <p:nvPr/>
        </p:nvSpPr>
        <p:spPr>
          <a:xfrm>
            <a:off x="10814609" y="4347972"/>
            <a:ext cx="6007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endParaRPr lang="en-US" sz="900" dirty="0"/>
          </a:p>
        </p:txBody>
      </p:sp>
      <p:sp>
        <p:nvSpPr>
          <p:cNvPr id="96" name="Shape 80"/>
          <p:cNvSpPr/>
          <p:nvPr/>
        </p:nvSpPr>
        <p:spPr>
          <a:xfrm>
            <a:off x="8989466" y="4848149"/>
            <a:ext cx="2352751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97" name="Text 81"/>
          <p:cNvSpPr txBox="1"/>
          <p:nvPr/>
        </p:nvSpPr>
        <p:spPr>
          <a:xfrm>
            <a:off x="8989466" y="4619549"/>
            <a:ext cx="4572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endParaRPr lang="en-US" sz="900" dirty="0"/>
          </a:p>
        </p:txBody>
      </p:sp>
      <p:sp>
        <p:nvSpPr>
          <p:cNvPr id="98" name="Text 82"/>
          <p:cNvSpPr txBox="1"/>
          <p:nvPr/>
        </p:nvSpPr>
        <p:spPr>
          <a:xfrm>
            <a:off x="11037722" y="4619549"/>
            <a:ext cx="381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900" dirty="0"/>
          </a:p>
        </p:txBody>
      </p:sp>
      <p:sp>
        <p:nvSpPr>
          <p:cNvPr id="99" name="Shape 83"/>
          <p:cNvSpPr/>
          <p:nvPr/>
        </p:nvSpPr>
        <p:spPr>
          <a:xfrm>
            <a:off x="8989466" y="5119726"/>
            <a:ext cx="2352751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00" name="Text 84"/>
          <p:cNvSpPr txBox="1"/>
          <p:nvPr/>
        </p:nvSpPr>
        <p:spPr>
          <a:xfrm>
            <a:off x="8989466" y="4891126"/>
            <a:ext cx="13432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announcement_type</a:t>
            </a:r>
            <a:endParaRPr lang="en-US" sz="900" dirty="0"/>
          </a:p>
        </p:txBody>
      </p:sp>
      <p:sp>
        <p:nvSpPr>
          <p:cNvPr id="101" name="Text 85"/>
          <p:cNvSpPr txBox="1"/>
          <p:nvPr/>
        </p:nvSpPr>
        <p:spPr>
          <a:xfrm>
            <a:off x="11037722" y="4891126"/>
            <a:ext cx="381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endParaRPr lang="en-US" sz="900" dirty="0"/>
          </a:p>
        </p:txBody>
      </p:sp>
      <p:sp>
        <p:nvSpPr>
          <p:cNvPr id="102" name="Shape 86"/>
          <p:cNvSpPr/>
          <p:nvPr/>
        </p:nvSpPr>
        <p:spPr>
          <a:xfrm>
            <a:off x="8989466" y="5391302"/>
            <a:ext cx="2352751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03" name="Text 87"/>
          <p:cNvSpPr txBox="1"/>
          <p:nvPr/>
        </p:nvSpPr>
        <p:spPr>
          <a:xfrm>
            <a:off x="8989466" y="5162702"/>
            <a:ext cx="12673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eligibility_json</a:t>
            </a:r>
            <a:endParaRPr lang="en-US" sz="900" dirty="0"/>
          </a:p>
        </p:txBody>
      </p:sp>
      <p:sp>
        <p:nvSpPr>
          <p:cNvPr id="104" name="Text 88"/>
          <p:cNvSpPr txBox="1"/>
          <p:nvPr/>
        </p:nvSpPr>
        <p:spPr>
          <a:xfrm>
            <a:off x="10962742" y="5162702"/>
            <a:ext cx="4572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JSONB</a:t>
            </a:r>
            <a:endParaRPr lang="en-US" sz="900" dirty="0"/>
          </a:p>
        </p:txBody>
      </p:sp>
      <p:sp>
        <p:nvSpPr>
          <p:cNvPr id="105" name="Shape 89"/>
          <p:cNvSpPr/>
          <p:nvPr/>
        </p:nvSpPr>
        <p:spPr>
          <a:xfrm>
            <a:off x="8989466" y="5662879"/>
            <a:ext cx="2352751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06" name="Text 90"/>
          <p:cNvSpPr txBox="1"/>
          <p:nvPr/>
        </p:nvSpPr>
        <p:spPr>
          <a:xfrm>
            <a:off x="8989466" y="5434279"/>
            <a:ext cx="14200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scoring_items_json</a:t>
            </a:r>
            <a:endParaRPr lang="en-US" sz="900" dirty="0"/>
          </a:p>
        </p:txBody>
      </p:sp>
      <p:sp>
        <p:nvSpPr>
          <p:cNvPr id="107" name="Text 91"/>
          <p:cNvSpPr txBox="1"/>
          <p:nvPr/>
        </p:nvSpPr>
        <p:spPr>
          <a:xfrm>
            <a:off x="10962742" y="5434279"/>
            <a:ext cx="4572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JSONB</a:t>
            </a:r>
            <a:endParaRPr lang="en-US" sz="900" dirty="0"/>
          </a:p>
        </p:txBody>
      </p:sp>
      <p:sp>
        <p:nvSpPr>
          <p:cNvPr id="108" name="Text 92"/>
          <p:cNvSpPr txBox="1"/>
          <p:nvPr/>
        </p:nvSpPr>
        <p:spPr>
          <a:xfrm>
            <a:off x="8989466" y="5705856"/>
            <a:ext cx="8961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deadline_at</a:t>
            </a:r>
            <a:endParaRPr lang="en-US" sz="900" dirty="0"/>
          </a:p>
        </p:txBody>
      </p:sp>
      <p:sp>
        <p:nvSpPr>
          <p:cNvPr id="109" name="Text 93"/>
          <p:cNvSpPr txBox="1"/>
          <p:nvPr/>
        </p:nvSpPr>
        <p:spPr>
          <a:xfrm>
            <a:off x="10666476" y="5705856"/>
            <a:ext cx="7525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900" dirty="0"/>
          </a:p>
        </p:txBody>
      </p:sp>
      <p:pic>
        <p:nvPicPr>
          <p:cNvPr id="110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9027871" y="3638398"/>
            <a:ext cx="152705" cy="152705"/>
          </a:xfrm>
          <a:prstGeom prst="rect">
            <a:avLst/>
          </a:prstGeom>
        </p:spPr>
      </p:pic>
      <p:pic>
        <p:nvPicPr>
          <p:cNvPr id="111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8989466" y="4082796"/>
            <a:ext cx="123444" cy="1234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19810"/>
            <a:ext cx="112772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7200"/>
            <a:ext cx="40672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2" kern="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 RECOMMENDATION LOGIC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581192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 엔진 및 과제 평가 로직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9974275" y="590702"/>
            <a:ext cx="176570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정부 사업과제 추천 시스템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197389" y="780898"/>
            <a:ext cx="15435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기획안 v2.0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24205" y="1457554"/>
            <a:ext cx="11201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 평가 파이프라인 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842" b="-842"/>
          <a:stretch/>
        </p:blipFill>
        <p:spPr>
          <a:xfrm>
            <a:off x="457200" y="1505102"/>
            <a:ext cx="190195" cy="171907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22" b="-22"/>
          <a:stretch/>
        </p:blipFill>
        <p:spPr>
          <a:xfrm>
            <a:off x="609905" y="1876349"/>
            <a:ext cx="3353105" cy="857707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71754" y="2076602"/>
            <a:ext cx="457200" cy="457200"/>
          </a:xfrm>
          <a:prstGeom prst="ellips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949147" y="2171700"/>
            <a:ext cx="1810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380744" y="2038198"/>
            <a:ext cx="17455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1차 필터 (Hard Filter)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380744" y="2266798"/>
            <a:ext cx="152613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정량 자격요건 충족 여부 검증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(업종, 매출, 지역, 필수인증 등)</a:t>
            </a:r>
            <a:endParaRPr lang="en-US" sz="9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22" b="-22"/>
          <a:stretch/>
        </p:blipFill>
        <p:spPr>
          <a:xfrm>
            <a:off x="4419295" y="1876349"/>
            <a:ext cx="3353105" cy="857707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581144" y="2076602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759452" y="2171700"/>
            <a:ext cx="1810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5191049" y="2038198"/>
            <a:ext cx="16194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2차 랭킹 (Scoring)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5191049" y="2266798"/>
            <a:ext cx="160477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적합도 종합 점수 산출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(기술/실적 유사도 + 가점 - 감점)</a:t>
            </a:r>
            <a:endParaRPr lang="en-US" sz="9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22" b="-22"/>
          <a:stretch/>
        </p:blipFill>
        <p:spPr>
          <a:xfrm>
            <a:off x="8229600" y="1876349"/>
            <a:ext cx="3353105" cy="857707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391449" y="2076602"/>
            <a:ext cx="457200" cy="457200"/>
          </a:xfrm>
          <a:prstGeom prst="ellips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8569757" y="2171700"/>
            <a:ext cx="1810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9001354" y="2038198"/>
            <a:ext cx="1604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3차 전략 제안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9001354" y="2266798"/>
            <a:ext cx="154625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지원 전략 분류 및 가이드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(단독 / 컨소시엄 / 차년도 준비)</a:t>
            </a:r>
            <a:endParaRPr lang="en-US" sz="900" dirty="0"/>
          </a:p>
        </p:txBody>
      </p:sp>
      <p:sp>
        <p:nvSpPr>
          <p:cNvPr id="26" name="Text 19"/>
          <p:cNvSpPr txBox="1"/>
          <p:nvPr/>
        </p:nvSpPr>
        <p:spPr>
          <a:xfrm>
            <a:off x="666598" y="3038551"/>
            <a:ext cx="111831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2차 랭킹 상세 로직 (Scoring Model) </a:t>
            </a:r>
            <a:endParaRPr lang="en-US" sz="13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rcRect l="-1773" r="-1773" t="0" b="0"/>
          <a:stretch/>
        </p:blipFill>
        <p:spPr>
          <a:xfrm>
            <a:off x="457200" y="3086100"/>
            <a:ext cx="133502" cy="171907"/>
          </a:xfrm>
          <a:prstGeom prst="rect">
            <a:avLst/>
          </a:prstGeom>
        </p:spPr>
      </p:pic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" b="-1"/>
          <a:stretch/>
        </p:blipFill>
        <p:spPr>
          <a:xfrm>
            <a:off x="457200" y="3457346"/>
            <a:ext cx="11277295" cy="57150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647395" y="3648456"/>
            <a:ext cx="19723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종합 점수 (Total Score) =</a:t>
            </a:r>
            <a:endParaRPr lang="en-US" sz="1000" dirty="0"/>
          </a:p>
        </p:txBody>
      </p:sp>
      <p:sp>
        <p:nvSpPr>
          <p:cNvPr id="30" name="Text 21"/>
          <p:cNvSpPr txBox="1"/>
          <p:nvPr/>
        </p:nvSpPr>
        <p:spPr>
          <a:xfrm>
            <a:off x="2693822" y="3610051"/>
            <a:ext cx="9336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자격충족도</a:t>
            </a:r>
            <a:endParaRPr lang="en-US" sz="1300" dirty="0"/>
          </a:p>
        </p:txBody>
      </p:sp>
      <p:sp>
        <p:nvSpPr>
          <p:cNvPr id="31" name="Text 22"/>
          <p:cNvSpPr txBox="1"/>
          <p:nvPr/>
        </p:nvSpPr>
        <p:spPr>
          <a:xfrm>
            <a:off x="3627425" y="3610051"/>
            <a:ext cx="1810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+</a:t>
            </a:r>
            <a:endParaRPr lang="en-US" sz="1300" dirty="0"/>
          </a:p>
        </p:txBody>
      </p:sp>
      <p:sp>
        <p:nvSpPr>
          <p:cNvPr id="32" name="Text 23"/>
          <p:cNvSpPr txBox="1"/>
          <p:nvPr/>
        </p:nvSpPr>
        <p:spPr>
          <a:xfrm>
            <a:off x="3806647" y="3610051"/>
            <a:ext cx="9336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기술유사도</a:t>
            </a:r>
            <a:endParaRPr lang="en-US" sz="1300" dirty="0"/>
          </a:p>
        </p:txBody>
      </p:sp>
      <p:sp>
        <p:nvSpPr>
          <p:cNvPr id="33" name="Text 24"/>
          <p:cNvSpPr txBox="1"/>
          <p:nvPr/>
        </p:nvSpPr>
        <p:spPr>
          <a:xfrm>
            <a:off x="4740250" y="3610051"/>
            <a:ext cx="1810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+</a:t>
            </a:r>
            <a:endParaRPr lang="en-US" sz="1300" dirty="0"/>
          </a:p>
        </p:txBody>
      </p:sp>
      <p:sp>
        <p:nvSpPr>
          <p:cNvPr id="34" name="Text 25"/>
          <p:cNvSpPr txBox="1"/>
          <p:nvPr/>
        </p:nvSpPr>
        <p:spPr>
          <a:xfrm>
            <a:off x="4919472" y="3610051"/>
            <a:ext cx="9336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실적유사도</a:t>
            </a:r>
            <a:endParaRPr lang="en-US" sz="1300" dirty="0"/>
          </a:p>
        </p:txBody>
      </p:sp>
      <p:sp>
        <p:nvSpPr>
          <p:cNvPr id="35" name="Text 26"/>
          <p:cNvSpPr txBox="1"/>
          <p:nvPr/>
        </p:nvSpPr>
        <p:spPr>
          <a:xfrm>
            <a:off x="5853074" y="3610051"/>
            <a:ext cx="1810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+</a:t>
            </a:r>
            <a:endParaRPr lang="en-US" sz="1300" dirty="0"/>
          </a:p>
        </p:txBody>
      </p:sp>
      <p:sp>
        <p:nvSpPr>
          <p:cNvPr id="36" name="Text 27"/>
          <p:cNvSpPr txBox="1"/>
          <p:nvPr/>
        </p:nvSpPr>
        <p:spPr>
          <a:xfrm>
            <a:off x="6032297" y="3610051"/>
            <a:ext cx="9336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가점가능성</a:t>
            </a:r>
            <a:endParaRPr lang="en-US" sz="1300" dirty="0"/>
          </a:p>
        </p:txBody>
      </p:sp>
      <p:sp>
        <p:nvSpPr>
          <p:cNvPr id="37" name="Text 28"/>
          <p:cNvSpPr txBox="1"/>
          <p:nvPr/>
        </p:nvSpPr>
        <p:spPr>
          <a:xfrm>
            <a:off x="6964985" y="3610051"/>
            <a:ext cx="1810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</a:t>
            </a:r>
            <a:endParaRPr lang="en-US" sz="1300" dirty="0"/>
          </a:p>
        </p:txBody>
      </p:sp>
      <p:sp>
        <p:nvSpPr>
          <p:cNvPr id="38" name="Text 29"/>
          <p:cNvSpPr txBox="1"/>
          <p:nvPr/>
        </p:nvSpPr>
        <p:spPr>
          <a:xfrm>
            <a:off x="7144207" y="3610051"/>
            <a:ext cx="762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준비부담</a:t>
            </a:r>
            <a:endParaRPr lang="en-US" sz="1300" dirty="0"/>
          </a:p>
        </p:txBody>
      </p:sp>
      <p:sp>
        <p:nvSpPr>
          <p:cNvPr id="39" name="Text 30"/>
          <p:cNvSpPr txBox="1"/>
          <p:nvPr/>
        </p:nvSpPr>
        <p:spPr>
          <a:xfrm>
            <a:off x="7906817" y="3610051"/>
            <a:ext cx="1810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</a:t>
            </a:r>
            <a:endParaRPr lang="en-US" sz="1300" dirty="0"/>
          </a:p>
        </p:txBody>
      </p:sp>
      <p:sp>
        <p:nvSpPr>
          <p:cNvPr id="40" name="Text 31"/>
          <p:cNvSpPr txBox="1"/>
          <p:nvPr/>
        </p:nvSpPr>
        <p:spPr>
          <a:xfrm>
            <a:off x="8086039" y="3610051"/>
            <a:ext cx="762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경쟁강도</a:t>
            </a:r>
            <a:endParaRPr lang="en-US" sz="1300" dirty="0"/>
          </a:p>
        </p:txBody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1" b="-11"/>
          <a:stretch/>
        </p:blipFill>
        <p:spPr>
          <a:xfrm>
            <a:off x="457200" y="4257446"/>
            <a:ext cx="3657600" cy="1205179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647395" y="4486046"/>
            <a:ext cx="812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자격충족도</a:t>
            </a:r>
            <a:endParaRPr lang="en-US" sz="1200" dirty="0"/>
          </a:p>
        </p:txBody>
      </p:sp>
      <p:sp>
        <p:nvSpPr>
          <p:cNvPr id="43" name="Text 33"/>
          <p:cNvSpPr txBox="1"/>
          <p:nvPr/>
        </p:nvSpPr>
        <p:spPr>
          <a:xfrm>
            <a:off x="3472891" y="4410151"/>
            <a:ext cx="571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30%</a:t>
            </a:r>
            <a:endParaRPr lang="en-US" sz="1800" dirty="0"/>
          </a:p>
        </p:txBody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400" b="-400"/>
          <a:stretch/>
        </p:blipFill>
        <p:spPr>
          <a:xfrm>
            <a:off x="647395" y="4791456"/>
            <a:ext cx="3314700" cy="57607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647395" y="4962449"/>
            <a:ext cx="35058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방법:</a:t>
            </a:r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규칙 기반 체크</a:t>
            </a:r>
            <a:endParaRPr lang="en-US" sz="900" dirty="0"/>
          </a:p>
        </p:txBody>
      </p:sp>
      <p:sp>
        <p:nvSpPr>
          <p:cNvPr id="46" name="Text 35"/>
          <p:cNvSpPr txBox="1"/>
          <p:nvPr/>
        </p:nvSpPr>
        <p:spPr>
          <a:xfrm>
            <a:off x="647395" y="5152644"/>
            <a:ext cx="35058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미충족 시 필터 탈락. 부분 충족 시 점수 차등 부여.</a:t>
            </a:r>
            <a:endParaRPr lang="en-US" sz="900" dirty="0"/>
          </a:p>
        </p:txBody>
      </p:sp>
      <p:pic>
        <p:nvPicPr>
          <p:cNvPr id="47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11" b="-11"/>
          <a:stretch/>
        </p:blipFill>
        <p:spPr>
          <a:xfrm>
            <a:off x="4267505" y="4257446"/>
            <a:ext cx="3657600" cy="1205179"/>
          </a:xfrm>
          <a:prstGeom prst="rect">
            <a:avLst/>
          </a:prstGeom>
        </p:spPr>
      </p:pic>
      <p:sp>
        <p:nvSpPr>
          <p:cNvPr id="48" name="Text 36"/>
          <p:cNvSpPr txBox="1"/>
          <p:nvPr/>
        </p:nvSpPr>
        <p:spPr>
          <a:xfrm>
            <a:off x="4457700" y="4486046"/>
            <a:ext cx="812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기술유사도</a:t>
            </a:r>
            <a:endParaRPr lang="en-US" sz="1200" dirty="0"/>
          </a:p>
        </p:txBody>
      </p:sp>
      <p:sp>
        <p:nvSpPr>
          <p:cNvPr id="49" name="Text 37"/>
          <p:cNvSpPr txBox="1"/>
          <p:nvPr/>
        </p:nvSpPr>
        <p:spPr>
          <a:xfrm>
            <a:off x="7282282" y="4410151"/>
            <a:ext cx="571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25%</a:t>
            </a:r>
            <a:endParaRPr lang="en-US" sz="1800" dirty="0"/>
          </a:p>
        </p:txBody>
      </p:sp>
      <p:pic>
        <p:nvPicPr>
          <p:cNvPr id="50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400" b="-400"/>
          <a:stretch/>
        </p:blipFill>
        <p:spPr>
          <a:xfrm>
            <a:off x="4457700" y="4791456"/>
            <a:ext cx="3314700" cy="57607"/>
          </a:xfrm>
          <a:prstGeom prst="rect">
            <a:avLst/>
          </a:prstGeom>
        </p:spPr>
      </p:pic>
      <p:pic>
        <p:nvPicPr>
          <p:cNvPr id="51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414" b="-414"/>
          <a:stretch/>
        </p:blipFill>
        <p:spPr>
          <a:xfrm>
            <a:off x="4457700" y="4791456"/>
            <a:ext cx="828446" cy="57607"/>
          </a:xfrm>
          <a:prstGeom prst="rect">
            <a:avLst/>
          </a:prstGeom>
        </p:spPr>
      </p:pic>
      <p:sp>
        <p:nvSpPr>
          <p:cNvPr id="52" name="Text 38"/>
          <p:cNvSpPr txBox="1"/>
          <p:nvPr/>
        </p:nvSpPr>
        <p:spPr>
          <a:xfrm>
            <a:off x="4457700" y="4962449"/>
            <a:ext cx="3429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방법:</a:t>
            </a:r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pgvector 코사인 유사도</a:t>
            </a:r>
            <a:endParaRPr lang="en-US" sz="900" dirty="0"/>
          </a:p>
        </p:txBody>
      </p:sp>
      <p:sp>
        <p:nvSpPr>
          <p:cNvPr id="53" name="Text 39"/>
          <p:cNvSpPr txBox="1"/>
          <p:nvPr/>
        </p:nvSpPr>
        <p:spPr>
          <a:xfrm>
            <a:off x="4457700" y="5152644"/>
            <a:ext cx="35058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기술 키워드 ↔ 공고 기술요건 임베딩 비교.</a:t>
            </a:r>
            <a:endParaRPr lang="en-US" sz="900" dirty="0"/>
          </a:p>
        </p:txBody>
      </p:sp>
      <p:pic>
        <p:nvPicPr>
          <p:cNvPr id="54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11" b="-11"/>
          <a:stretch/>
        </p:blipFill>
        <p:spPr>
          <a:xfrm>
            <a:off x="8076895" y="4257446"/>
            <a:ext cx="3657600" cy="1205179"/>
          </a:xfrm>
          <a:prstGeom prst="rect">
            <a:avLst/>
          </a:prstGeom>
        </p:spPr>
      </p:pic>
      <p:sp>
        <p:nvSpPr>
          <p:cNvPr id="55" name="Text 40"/>
          <p:cNvSpPr txBox="1"/>
          <p:nvPr/>
        </p:nvSpPr>
        <p:spPr>
          <a:xfrm>
            <a:off x="8268005" y="4486046"/>
            <a:ext cx="812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실적유사도</a:t>
            </a:r>
            <a:endParaRPr lang="en-US" sz="1200" dirty="0"/>
          </a:p>
        </p:txBody>
      </p:sp>
      <p:sp>
        <p:nvSpPr>
          <p:cNvPr id="56" name="Text 41"/>
          <p:cNvSpPr txBox="1"/>
          <p:nvPr/>
        </p:nvSpPr>
        <p:spPr>
          <a:xfrm>
            <a:off x="11092586" y="4410151"/>
            <a:ext cx="571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20%</a:t>
            </a:r>
            <a:endParaRPr lang="en-US" sz="1800" dirty="0"/>
          </a:p>
        </p:txBody>
      </p:sp>
      <p:pic>
        <p:nvPicPr>
          <p:cNvPr id="57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400" b="-400"/>
          <a:stretch/>
        </p:blipFill>
        <p:spPr>
          <a:xfrm>
            <a:off x="8268005" y="4791456"/>
            <a:ext cx="3314700" cy="57607"/>
          </a:xfrm>
          <a:prstGeom prst="rect">
            <a:avLst/>
          </a:prstGeom>
        </p:spPr>
      </p:pic>
      <p:pic>
        <p:nvPicPr>
          <p:cNvPr id="58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-396" b="-396"/>
          <a:stretch/>
        </p:blipFill>
        <p:spPr>
          <a:xfrm>
            <a:off x="8268005" y="4791456"/>
            <a:ext cx="662940" cy="57607"/>
          </a:xfrm>
          <a:prstGeom prst="rect">
            <a:avLst/>
          </a:prstGeom>
        </p:spPr>
      </p:pic>
      <p:sp>
        <p:nvSpPr>
          <p:cNvPr id="59" name="Text 42"/>
          <p:cNvSpPr txBox="1"/>
          <p:nvPr/>
        </p:nvSpPr>
        <p:spPr>
          <a:xfrm>
            <a:off x="8268005" y="4962449"/>
            <a:ext cx="35058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방법:</a:t>
            </a:r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키워드 + 연도 가중</a:t>
            </a:r>
            <a:endParaRPr lang="en-US" sz="900" dirty="0"/>
          </a:p>
        </p:txBody>
      </p:sp>
      <p:sp>
        <p:nvSpPr>
          <p:cNvPr id="60" name="Text 43"/>
          <p:cNvSpPr txBox="1"/>
          <p:nvPr/>
        </p:nvSpPr>
        <p:spPr>
          <a:xfrm>
            <a:off x="8268005" y="5152644"/>
            <a:ext cx="35058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유사 분야 수행실적의 최근성 및 규모 반영.</a:t>
            </a:r>
            <a:endParaRPr lang="en-US" sz="900" dirty="0"/>
          </a:p>
        </p:txBody>
      </p:sp>
      <p:pic>
        <p:nvPicPr>
          <p:cNvPr id="61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-11" b="-11"/>
          <a:stretch/>
        </p:blipFill>
        <p:spPr>
          <a:xfrm>
            <a:off x="457200" y="5615330"/>
            <a:ext cx="3657600" cy="1205179"/>
          </a:xfrm>
          <a:prstGeom prst="rect">
            <a:avLst/>
          </a:prstGeom>
        </p:spPr>
      </p:pic>
      <p:sp>
        <p:nvSpPr>
          <p:cNvPr id="62" name="Text 44"/>
          <p:cNvSpPr txBox="1"/>
          <p:nvPr/>
        </p:nvSpPr>
        <p:spPr>
          <a:xfrm>
            <a:off x="647395" y="5843930"/>
            <a:ext cx="812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가점가능성</a:t>
            </a:r>
            <a:endParaRPr lang="en-US" sz="1200" dirty="0"/>
          </a:p>
        </p:txBody>
      </p:sp>
      <p:sp>
        <p:nvSpPr>
          <p:cNvPr id="63" name="Text 45"/>
          <p:cNvSpPr txBox="1"/>
          <p:nvPr/>
        </p:nvSpPr>
        <p:spPr>
          <a:xfrm>
            <a:off x="3472891" y="5767121"/>
            <a:ext cx="571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15%</a:t>
            </a:r>
            <a:endParaRPr lang="en-US" sz="1800" dirty="0"/>
          </a:p>
        </p:txBody>
      </p:sp>
      <p:pic>
        <p:nvPicPr>
          <p:cNvPr id="64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-400" b="-400"/>
          <a:stretch/>
        </p:blipFill>
        <p:spPr>
          <a:xfrm>
            <a:off x="647395" y="6148426"/>
            <a:ext cx="3314700" cy="57607"/>
          </a:xfrm>
          <a:prstGeom prst="rect">
            <a:avLst/>
          </a:prstGeom>
        </p:spPr>
      </p:pic>
      <p:pic>
        <p:nvPicPr>
          <p:cNvPr id="65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-365" b="-365"/>
          <a:stretch/>
        </p:blipFill>
        <p:spPr>
          <a:xfrm>
            <a:off x="647395" y="6148426"/>
            <a:ext cx="497434" cy="57607"/>
          </a:xfrm>
          <a:prstGeom prst="rect">
            <a:avLst/>
          </a:prstGeom>
        </p:spPr>
      </p:pic>
      <p:sp>
        <p:nvSpPr>
          <p:cNvPr id="66" name="Text 46"/>
          <p:cNvSpPr txBox="1"/>
          <p:nvPr/>
        </p:nvSpPr>
        <p:spPr>
          <a:xfrm>
            <a:off x="647395" y="6319418"/>
            <a:ext cx="35058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방법:</a:t>
            </a:r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가점항목 매핑 스코어</a:t>
            </a:r>
            <a:endParaRPr lang="en-US" sz="900" dirty="0"/>
          </a:p>
        </p:txBody>
      </p:sp>
      <p:sp>
        <p:nvSpPr>
          <p:cNvPr id="67" name="Text 47"/>
          <p:cNvSpPr txBox="1"/>
          <p:nvPr/>
        </p:nvSpPr>
        <p:spPr>
          <a:xfrm>
            <a:off x="647395" y="6510528"/>
            <a:ext cx="35058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보유 인증, 지역, 협약 유형별 가점 예측.</a:t>
            </a:r>
            <a:endParaRPr lang="en-US" sz="900" dirty="0"/>
          </a:p>
        </p:txBody>
      </p:sp>
      <p:pic>
        <p:nvPicPr>
          <p:cNvPr id="68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-11" b="-11"/>
          <a:stretch/>
        </p:blipFill>
        <p:spPr>
          <a:xfrm>
            <a:off x="4267505" y="5615330"/>
            <a:ext cx="3657600" cy="1205179"/>
          </a:xfrm>
          <a:prstGeom prst="rect">
            <a:avLst/>
          </a:prstGeom>
        </p:spPr>
      </p:pic>
      <p:sp>
        <p:nvSpPr>
          <p:cNvPr id="69" name="Text 48"/>
          <p:cNvSpPr txBox="1"/>
          <p:nvPr/>
        </p:nvSpPr>
        <p:spPr>
          <a:xfrm>
            <a:off x="4457700" y="5843930"/>
            <a:ext cx="11091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준비부담 (역)</a:t>
            </a:r>
            <a:endParaRPr lang="en-US" sz="1200" dirty="0"/>
          </a:p>
        </p:txBody>
      </p:sp>
      <p:sp>
        <p:nvSpPr>
          <p:cNvPr id="70" name="Text 49"/>
          <p:cNvSpPr txBox="1"/>
          <p:nvPr/>
        </p:nvSpPr>
        <p:spPr>
          <a:xfrm>
            <a:off x="7332574" y="5767121"/>
            <a:ext cx="5239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-5%</a:t>
            </a:r>
            <a:endParaRPr lang="en-US" sz="1800" dirty="0"/>
          </a:p>
        </p:txBody>
      </p:sp>
      <p:pic>
        <p:nvPicPr>
          <p:cNvPr id="71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-400" b="-400"/>
          <a:stretch/>
        </p:blipFill>
        <p:spPr>
          <a:xfrm>
            <a:off x="4457700" y="6148426"/>
            <a:ext cx="3314700" cy="57607"/>
          </a:xfrm>
          <a:prstGeom prst="rect">
            <a:avLst/>
          </a:prstGeom>
        </p:spPr>
      </p:pic>
      <p:pic>
        <p:nvPicPr>
          <p:cNvPr id="72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-365" b="-365"/>
          <a:stretch/>
        </p:blipFill>
        <p:spPr>
          <a:xfrm>
            <a:off x="4457700" y="6148426"/>
            <a:ext cx="497434" cy="57607"/>
          </a:xfrm>
          <a:prstGeom prst="rect">
            <a:avLst/>
          </a:prstGeom>
        </p:spPr>
      </p:pic>
      <p:sp>
        <p:nvSpPr>
          <p:cNvPr id="73" name="Text 50"/>
          <p:cNvSpPr txBox="1"/>
          <p:nvPr/>
        </p:nvSpPr>
        <p:spPr>
          <a:xfrm>
            <a:off x="4457700" y="6319418"/>
            <a:ext cx="35058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방법:</a:t>
            </a:r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미비 서류 수 × 난이도</a:t>
            </a:r>
            <a:endParaRPr lang="en-US" sz="900" dirty="0"/>
          </a:p>
        </p:txBody>
      </p:sp>
      <p:sp>
        <p:nvSpPr>
          <p:cNvPr id="74" name="Text 51"/>
          <p:cNvSpPr txBox="1"/>
          <p:nvPr/>
        </p:nvSpPr>
        <p:spPr>
          <a:xfrm>
            <a:off x="4457700" y="6510528"/>
            <a:ext cx="35058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갭 분석에서 산출한 준비 공수 추정치 반영.</a:t>
            </a:r>
            <a:endParaRPr lang="en-US" sz="900" dirty="0"/>
          </a:p>
        </p:txBody>
      </p:sp>
      <p:pic>
        <p:nvPicPr>
          <p:cNvPr id="75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-11" b="-11"/>
          <a:stretch/>
        </p:blipFill>
        <p:spPr>
          <a:xfrm>
            <a:off x="8076895" y="5615330"/>
            <a:ext cx="3657600" cy="1205179"/>
          </a:xfrm>
          <a:prstGeom prst="rect">
            <a:avLst/>
          </a:prstGeom>
        </p:spPr>
      </p:pic>
      <p:sp>
        <p:nvSpPr>
          <p:cNvPr id="76" name="Text 52"/>
          <p:cNvSpPr txBox="1"/>
          <p:nvPr/>
        </p:nvSpPr>
        <p:spPr>
          <a:xfrm>
            <a:off x="8268005" y="5843930"/>
            <a:ext cx="11091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경쟁강도 (역)</a:t>
            </a:r>
            <a:endParaRPr lang="en-US" sz="1200" dirty="0"/>
          </a:p>
        </p:txBody>
      </p:sp>
      <p:sp>
        <p:nvSpPr>
          <p:cNvPr id="77" name="Text 53"/>
          <p:cNvSpPr txBox="1"/>
          <p:nvPr/>
        </p:nvSpPr>
        <p:spPr>
          <a:xfrm>
            <a:off x="11142878" y="5767121"/>
            <a:ext cx="5239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-5%</a:t>
            </a:r>
            <a:endParaRPr lang="en-US" sz="1800" dirty="0"/>
          </a:p>
        </p:txBody>
      </p:sp>
      <p:pic>
        <p:nvPicPr>
          <p:cNvPr id="78" name="Image 22" descr="preencoded.png">    </p:cNvPr>
          <p:cNvPicPr>
            <a:picLocks noChangeAspect="1"/>
          </p:cNvPicPr>
          <p:nvPr/>
        </p:nvPicPr>
        <p:blipFill>
          <a:blip r:embed="rId23"/>
          <a:srcRect l="0" r="0" t="-400" b="-400"/>
          <a:stretch/>
        </p:blipFill>
        <p:spPr>
          <a:xfrm>
            <a:off x="8268005" y="6148426"/>
            <a:ext cx="3314700" cy="57607"/>
          </a:xfrm>
          <a:prstGeom prst="rect">
            <a:avLst/>
          </a:prstGeom>
        </p:spPr>
      </p:pic>
      <p:sp>
        <p:nvSpPr>
          <p:cNvPr id="79" name="Text 54"/>
          <p:cNvSpPr txBox="1"/>
          <p:nvPr/>
        </p:nvSpPr>
        <p:spPr>
          <a:xfrm>
            <a:off x="8268005" y="6319418"/>
            <a:ext cx="35058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방법:</a:t>
            </a:r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공고별 평균 경쟁률</a:t>
            </a:r>
            <a:endParaRPr lang="en-US" sz="900" dirty="0"/>
          </a:p>
        </p:txBody>
      </p:sp>
      <p:sp>
        <p:nvSpPr>
          <p:cNvPr id="80" name="Text 55"/>
          <p:cNvSpPr txBox="1"/>
          <p:nvPr/>
        </p:nvSpPr>
        <p:spPr>
          <a:xfrm>
            <a:off x="8268005" y="6510528"/>
            <a:ext cx="35058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이전 유사 공고 기준 데이터 또는 중간값 사용.</a:t>
            </a:r>
            <a:endParaRPr lang="en-US" sz="900" dirty="0"/>
          </a:p>
        </p:txBody>
      </p:sp>
      <p:sp>
        <p:nvSpPr>
          <p:cNvPr id="81" name="Shape 56"/>
          <p:cNvSpPr/>
          <p:nvPr/>
        </p:nvSpPr>
        <p:spPr>
          <a:xfrm>
            <a:off x="457200" y="6819595"/>
            <a:ext cx="112772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82" name="Text 57"/>
          <p:cNvSpPr txBox="1"/>
          <p:nvPr/>
        </p:nvSpPr>
        <p:spPr>
          <a:xfrm>
            <a:off x="457200" y="6981444"/>
            <a:ext cx="43104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2025 Government Project Recommendation System. Confidential.</a:t>
            </a:r>
            <a:endParaRPr lang="en-US" sz="900" dirty="0"/>
          </a:p>
        </p:txBody>
      </p:sp>
      <p:sp>
        <p:nvSpPr>
          <p:cNvPr id="83" name="Text 58"/>
          <p:cNvSpPr txBox="1"/>
          <p:nvPr/>
        </p:nvSpPr>
        <p:spPr>
          <a:xfrm>
            <a:off x="11319358" y="6981444"/>
            <a:ext cx="4974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06</a:t>
            </a:r>
            <a:endParaRPr lang="en-US" sz="900" dirty="0"/>
          </a:p>
        </p:txBody>
      </p:sp>
      <p:pic>
        <p:nvPicPr>
          <p:cNvPr id="84" name="Image 23" descr="preencoded.png">    </p:cNvPr>
          <p:cNvPicPr>
            <a:picLocks noChangeAspect="1"/>
          </p:cNvPicPr>
          <p:nvPr/>
        </p:nvPicPr>
        <p:blipFill>
          <a:blip r:embed="rId24"/>
          <a:srcRect l="0" r="0" t="-80" b="-80"/>
          <a:stretch/>
        </p:blipFill>
        <p:spPr>
          <a:xfrm>
            <a:off x="4038905" y="2190902"/>
            <a:ext cx="142646" cy="228600"/>
          </a:xfrm>
          <a:prstGeom prst="rect">
            <a:avLst/>
          </a:prstGeom>
        </p:spPr>
      </p:pic>
      <p:pic>
        <p:nvPicPr>
          <p:cNvPr id="85" name="Image 24" descr="preencoded.png">    </p:cNvPr>
          <p:cNvPicPr>
            <a:picLocks noChangeAspect="1"/>
          </p:cNvPicPr>
          <p:nvPr/>
        </p:nvPicPr>
        <p:blipFill>
          <a:blip r:embed="rId25"/>
          <a:srcRect l="0" r="0" t="-80" b="-80"/>
          <a:stretch/>
        </p:blipFill>
        <p:spPr>
          <a:xfrm>
            <a:off x="7848295" y="2190902"/>
            <a:ext cx="142646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19810"/>
            <a:ext cx="112772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7200"/>
            <a:ext cx="33439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2" kern="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 DATA COLLECTION STRATEGY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47914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공고 수집 출처 및 전략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9974275" y="590702"/>
            <a:ext cx="176570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정부 사업과제 추천 시스템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197389" y="780898"/>
            <a:ext cx="15435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기획안 v2.0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533449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3" b="-43"/>
          <a:stretch/>
        </p:blipFill>
        <p:spPr>
          <a:xfrm>
            <a:off x="543154" y="1609344"/>
            <a:ext cx="133502" cy="15270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75995" y="1552651"/>
            <a:ext cx="219456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공고 수집 출처 상세화</a:t>
            </a:r>
            <a:endParaRPr lang="en-US" sz="15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2000707"/>
            <a:ext cx="2257654" cy="54315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" y="2000707"/>
            <a:ext cx="2257654" cy="543154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</a:t>
            </a:r>
            <a:endParaRPr lang="en-US" sz="11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8511" y="2000707"/>
            <a:ext cx="3381451" cy="54315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718511" y="2000707"/>
            <a:ext cx="3381451" cy="543154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부처 / 과제 유형</a:t>
            </a:r>
            <a:endParaRPr lang="en-US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305" y="2000707"/>
            <a:ext cx="1695298" cy="54315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096305" y="2000707"/>
            <a:ext cx="1696212" cy="543154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수집 방식</a:t>
            </a:r>
            <a:endParaRPr lang="en-US" sz="11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4287" y="2000707"/>
            <a:ext cx="1133856" cy="54315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784287" y="2000707"/>
            <a:ext cx="1133856" cy="543154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제공</a:t>
            </a:r>
            <a:endParaRPr lang="en-US" sz="11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9914" y="2000707"/>
            <a:ext cx="2819095" cy="54315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909914" y="2000707"/>
            <a:ext cx="2820010" cy="543154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우선순위 (단계)</a:t>
            </a:r>
            <a:endParaRPr lang="en-US" sz="1100" dirty="0"/>
          </a:p>
        </p:txBody>
      </p:sp>
      <p:sp>
        <p:nvSpPr>
          <p:cNvPr id="22" name="Shape 14"/>
          <p:cNvSpPr/>
          <p:nvPr/>
        </p:nvSpPr>
        <p:spPr>
          <a:xfrm>
            <a:off x="466344" y="3246120"/>
            <a:ext cx="2257654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619049" y="2758745"/>
            <a:ext cx="75895" cy="75895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771754" y="2693822"/>
            <a:ext cx="35295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IRIS</a:t>
            </a:r>
            <a:endParaRPr lang="en-US" sz="1000" dirty="0"/>
          </a:p>
        </p:txBody>
      </p:sp>
      <p:sp>
        <p:nvSpPr>
          <p:cNvPr id="25" name="Text 17"/>
          <p:cNvSpPr txBox="1"/>
          <p:nvPr/>
        </p:nvSpPr>
        <p:spPr>
          <a:xfrm>
            <a:off x="619049" y="2937967"/>
            <a:ext cx="210952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범부처통합연구지원시스템</a:t>
            </a:r>
            <a:endParaRPr lang="en-US" sz="900" dirty="0"/>
          </a:p>
        </p:txBody>
      </p:sp>
      <p:sp>
        <p:nvSpPr>
          <p:cNvPr id="26" name="Shape 18"/>
          <p:cNvSpPr/>
          <p:nvPr/>
        </p:nvSpPr>
        <p:spPr>
          <a:xfrm>
            <a:off x="2718511" y="3246120"/>
            <a:ext cx="3381451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2870302" y="2788920"/>
            <a:ext cx="326715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과기부, 산업부, 중기부 R&amp;D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6096305" y="3246120"/>
            <a:ext cx="169529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6248095" y="2788920"/>
            <a:ext cx="14676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 API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7784287" y="3246120"/>
            <a:ext cx="113385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7898587" y="2788920"/>
            <a:ext cx="905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8909914" y="3246120"/>
            <a:ext cx="28190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2618" y="2758745"/>
            <a:ext cx="875995" cy="267005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338767" y="2758745"/>
            <a:ext cx="600761" cy="26700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CD3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MVP 필수</a:t>
            </a:r>
            <a:endParaRPr lang="en-US" sz="90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rcRect l="-1911" r="-1911" t="0" b="0"/>
          <a:stretch/>
        </p:blipFill>
        <p:spPr>
          <a:xfrm>
            <a:off x="9167774" y="2834640"/>
            <a:ext cx="133502" cy="114300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466344" y="3251606"/>
            <a:ext cx="11259007" cy="580644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466344" y="3823106"/>
            <a:ext cx="2257654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8" name="Shape 28"/>
          <p:cNvSpPr/>
          <p:nvPr/>
        </p:nvSpPr>
        <p:spPr>
          <a:xfrm>
            <a:off x="619049" y="3499409"/>
            <a:ext cx="75895" cy="75895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29"/>
          <p:cNvSpPr txBox="1"/>
          <p:nvPr/>
        </p:nvSpPr>
        <p:spPr>
          <a:xfrm>
            <a:off x="771754" y="3434486"/>
            <a:ext cx="76718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K-스타트업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2718511" y="3823106"/>
            <a:ext cx="3381451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1" name="Text 31"/>
          <p:cNvSpPr txBox="1"/>
          <p:nvPr/>
        </p:nvSpPr>
        <p:spPr>
          <a:xfrm>
            <a:off x="2870302" y="3434486"/>
            <a:ext cx="326715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중소벤처기업부 창업지원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6096305" y="3823106"/>
            <a:ext cx="169529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3" name="Text 33"/>
          <p:cNvSpPr txBox="1"/>
          <p:nvPr/>
        </p:nvSpPr>
        <p:spPr>
          <a:xfrm>
            <a:off x="6248095" y="3434486"/>
            <a:ext cx="14676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 API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7784287" y="3823106"/>
            <a:ext cx="113385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5" name="Text 35"/>
          <p:cNvSpPr txBox="1"/>
          <p:nvPr/>
        </p:nvSpPr>
        <p:spPr>
          <a:xfrm>
            <a:off x="7898587" y="3434486"/>
            <a:ext cx="905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8909914" y="3823106"/>
            <a:ext cx="28190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62618" y="3404311"/>
            <a:ext cx="875995" cy="267005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9338767" y="3404311"/>
            <a:ext cx="600761" cy="26700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CD3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MVP 필수</a:t>
            </a:r>
            <a:endParaRPr lang="en-US" sz="900" dirty="0"/>
          </a:p>
        </p:txBody>
      </p:sp>
      <p:pic>
        <p:nvPicPr>
          <p:cNvPr id="49" name="Image 9" descr="preencoded.png">    </p:cNvPr>
          <p:cNvPicPr>
            <a:picLocks noChangeAspect="1"/>
          </p:cNvPicPr>
          <p:nvPr/>
        </p:nvPicPr>
        <p:blipFill>
          <a:blip r:embed="rId10"/>
          <a:srcRect l="-1911" r="-1911" t="0" b="0"/>
          <a:stretch/>
        </p:blipFill>
        <p:spPr>
          <a:xfrm>
            <a:off x="9167774" y="3480206"/>
            <a:ext cx="133502" cy="114300"/>
          </a:xfrm>
          <a:prstGeom prst="rect">
            <a:avLst/>
          </a:prstGeom>
        </p:spPr>
      </p:pic>
      <p:sp>
        <p:nvSpPr>
          <p:cNvPr id="50" name="Shape 38"/>
          <p:cNvSpPr/>
          <p:nvPr/>
        </p:nvSpPr>
        <p:spPr>
          <a:xfrm>
            <a:off x="466344" y="4404665"/>
            <a:ext cx="2257654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1" name="Shape 39"/>
          <p:cNvSpPr/>
          <p:nvPr/>
        </p:nvSpPr>
        <p:spPr>
          <a:xfrm>
            <a:off x="619049" y="4080053"/>
            <a:ext cx="75895" cy="75895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0"/>
          <p:cNvSpPr txBox="1"/>
          <p:nvPr/>
        </p:nvSpPr>
        <p:spPr>
          <a:xfrm>
            <a:off x="771754" y="4016045"/>
            <a:ext cx="5852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기업마당</a:t>
            </a:r>
            <a:endParaRPr lang="en-US" sz="1000" dirty="0"/>
          </a:p>
        </p:txBody>
      </p:sp>
      <p:sp>
        <p:nvSpPr>
          <p:cNvPr id="53" name="Shape 41"/>
          <p:cNvSpPr/>
          <p:nvPr/>
        </p:nvSpPr>
        <p:spPr>
          <a:xfrm>
            <a:off x="2718511" y="4404665"/>
            <a:ext cx="3381451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4" name="Text 42"/>
          <p:cNvSpPr txBox="1"/>
          <p:nvPr/>
        </p:nvSpPr>
        <p:spPr>
          <a:xfrm>
            <a:off x="2870302" y="4016045"/>
            <a:ext cx="326715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중소기업 지원사업 통합</a:t>
            </a:r>
            <a:endParaRPr lang="en-US" sz="1000" dirty="0"/>
          </a:p>
        </p:txBody>
      </p:sp>
      <p:sp>
        <p:nvSpPr>
          <p:cNvPr id="55" name="Shape 43"/>
          <p:cNvSpPr/>
          <p:nvPr/>
        </p:nvSpPr>
        <p:spPr>
          <a:xfrm>
            <a:off x="6096305" y="4404665"/>
            <a:ext cx="169529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6" name="Text 44"/>
          <p:cNvSpPr txBox="1"/>
          <p:nvPr/>
        </p:nvSpPr>
        <p:spPr>
          <a:xfrm>
            <a:off x="6248095" y="4016045"/>
            <a:ext cx="14676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크롤링 + RSS</a:t>
            </a:r>
            <a:endParaRPr lang="en-US" sz="1000" dirty="0"/>
          </a:p>
        </p:txBody>
      </p:sp>
      <p:sp>
        <p:nvSpPr>
          <p:cNvPr id="57" name="Shape 45"/>
          <p:cNvSpPr/>
          <p:nvPr/>
        </p:nvSpPr>
        <p:spPr>
          <a:xfrm>
            <a:off x="7784287" y="4404665"/>
            <a:ext cx="113385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8" name="Text 46"/>
          <p:cNvSpPr txBox="1"/>
          <p:nvPr/>
        </p:nvSpPr>
        <p:spPr>
          <a:xfrm>
            <a:off x="7898587" y="4016045"/>
            <a:ext cx="905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일부</a:t>
            </a:r>
            <a:endParaRPr lang="en-US" sz="1000" dirty="0"/>
          </a:p>
        </p:txBody>
      </p:sp>
      <p:sp>
        <p:nvSpPr>
          <p:cNvPr id="59" name="Shape 47"/>
          <p:cNvSpPr/>
          <p:nvPr/>
        </p:nvSpPr>
        <p:spPr>
          <a:xfrm>
            <a:off x="8909914" y="4404665"/>
            <a:ext cx="28190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pic>
        <p:nvPicPr>
          <p:cNvPr id="6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62618" y="3984955"/>
            <a:ext cx="875995" cy="267005"/>
          </a:xfrm>
          <a:prstGeom prst="rect">
            <a:avLst/>
          </a:prstGeom>
        </p:spPr>
      </p:pic>
      <p:sp>
        <p:nvSpPr>
          <p:cNvPr id="61" name="Text 48"/>
          <p:cNvSpPr/>
          <p:nvPr/>
        </p:nvSpPr>
        <p:spPr>
          <a:xfrm>
            <a:off x="9338767" y="3984955"/>
            <a:ext cx="600761" cy="26700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CD3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MVP 필수</a:t>
            </a:r>
            <a:endParaRPr lang="en-US" sz="900" dirty="0"/>
          </a:p>
        </p:txBody>
      </p:sp>
      <p:pic>
        <p:nvPicPr>
          <p:cNvPr id="62" name="Image 11" descr="preencoded.png">    </p:cNvPr>
          <p:cNvPicPr>
            <a:picLocks noChangeAspect="1"/>
          </p:cNvPicPr>
          <p:nvPr/>
        </p:nvPicPr>
        <p:blipFill>
          <a:blip r:embed="rId12"/>
          <a:srcRect l="-1911" r="-1911" t="0" b="0"/>
          <a:stretch/>
        </p:blipFill>
        <p:spPr>
          <a:xfrm>
            <a:off x="9167774" y="4061765"/>
            <a:ext cx="133502" cy="114300"/>
          </a:xfrm>
          <a:prstGeom prst="rect">
            <a:avLst/>
          </a:prstGeom>
        </p:spPr>
      </p:pic>
      <p:sp>
        <p:nvSpPr>
          <p:cNvPr id="63" name="Shape 49"/>
          <p:cNvSpPr/>
          <p:nvPr/>
        </p:nvSpPr>
        <p:spPr>
          <a:xfrm>
            <a:off x="466344" y="4413809"/>
            <a:ext cx="11259007" cy="580644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50"/>
          <p:cNvSpPr/>
          <p:nvPr/>
        </p:nvSpPr>
        <p:spPr>
          <a:xfrm>
            <a:off x="466344" y="4985309"/>
            <a:ext cx="2257654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65" name="Text 51"/>
          <p:cNvSpPr txBox="1"/>
          <p:nvPr/>
        </p:nvSpPr>
        <p:spPr>
          <a:xfrm>
            <a:off x="771754" y="4596689"/>
            <a:ext cx="109179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나라장터 (G2B)</a:t>
            </a:r>
            <a:endParaRPr lang="en-US" sz="1000" dirty="0"/>
          </a:p>
        </p:txBody>
      </p:sp>
      <p:sp>
        <p:nvSpPr>
          <p:cNvPr id="66" name="Shape 52"/>
          <p:cNvSpPr/>
          <p:nvPr/>
        </p:nvSpPr>
        <p:spPr>
          <a:xfrm>
            <a:off x="2718511" y="4985309"/>
            <a:ext cx="3381451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67" name="Text 53"/>
          <p:cNvSpPr txBox="1"/>
          <p:nvPr/>
        </p:nvSpPr>
        <p:spPr>
          <a:xfrm>
            <a:off x="2870302" y="4596689"/>
            <a:ext cx="326715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조달청 공공사업</a:t>
            </a:r>
            <a:endParaRPr lang="en-US" sz="1000" dirty="0"/>
          </a:p>
        </p:txBody>
      </p:sp>
      <p:sp>
        <p:nvSpPr>
          <p:cNvPr id="68" name="Shape 54"/>
          <p:cNvSpPr/>
          <p:nvPr/>
        </p:nvSpPr>
        <p:spPr>
          <a:xfrm>
            <a:off x="6096305" y="4985309"/>
            <a:ext cx="169529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69" name="Text 55"/>
          <p:cNvSpPr txBox="1"/>
          <p:nvPr/>
        </p:nvSpPr>
        <p:spPr>
          <a:xfrm>
            <a:off x="6248095" y="4596689"/>
            <a:ext cx="14676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 API</a:t>
            </a:r>
            <a:endParaRPr lang="en-US" sz="1000" dirty="0"/>
          </a:p>
        </p:txBody>
      </p:sp>
      <p:sp>
        <p:nvSpPr>
          <p:cNvPr id="70" name="Shape 56"/>
          <p:cNvSpPr/>
          <p:nvPr/>
        </p:nvSpPr>
        <p:spPr>
          <a:xfrm>
            <a:off x="7784287" y="4985309"/>
            <a:ext cx="113385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1" name="Text 57"/>
          <p:cNvSpPr txBox="1"/>
          <p:nvPr/>
        </p:nvSpPr>
        <p:spPr>
          <a:xfrm>
            <a:off x="7898587" y="4596689"/>
            <a:ext cx="905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</a:t>
            </a:r>
            <a:endParaRPr lang="en-US" sz="1000" dirty="0"/>
          </a:p>
        </p:txBody>
      </p:sp>
      <p:sp>
        <p:nvSpPr>
          <p:cNvPr id="72" name="Shape 58"/>
          <p:cNvSpPr/>
          <p:nvPr/>
        </p:nvSpPr>
        <p:spPr>
          <a:xfrm>
            <a:off x="8909914" y="4985309"/>
            <a:ext cx="28190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pic>
        <p:nvPicPr>
          <p:cNvPr id="7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62618" y="4566514"/>
            <a:ext cx="800100" cy="267005"/>
          </a:xfrm>
          <a:prstGeom prst="rect">
            <a:avLst/>
          </a:prstGeom>
        </p:spPr>
      </p:pic>
      <p:sp>
        <p:nvSpPr>
          <p:cNvPr id="74" name="Text 59"/>
          <p:cNvSpPr/>
          <p:nvPr/>
        </p:nvSpPr>
        <p:spPr>
          <a:xfrm>
            <a:off x="9338767" y="4566514"/>
            <a:ext cx="523951" cy="26700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93C5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2차 확장</a:t>
            </a:r>
            <a:endParaRPr lang="en-US" sz="900" dirty="0"/>
          </a:p>
        </p:txBody>
      </p:sp>
      <p:pic>
        <p:nvPicPr>
          <p:cNvPr id="75" name="Image 13" descr="preencoded.png">    </p:cNvPr>
          <p:cNvPicPr>
            <a:picLocks noChangeAspect="1"/>
          </p:cNvPicPr>
          <p:nvPr/>
        </p:nvPicPr>
        <p:blipFill>
          <a:blip r:embed="rId14"/>
          <a:srcRect l="-1911" r="-1911" t="0" b="0"/>
          <a:stretch/>
        </p:blipFill>
        <p:spPr>
          <a:xfrm>
            <a:off x="9167774" y="4642409"/>
            <a:ext cx="133502" cy="114300"/>
          </a:xfrm>
          <a:prstGeom prst="rect">
            <a:avLst/>
          </a:prstGeom>
        </p:spPr>
      </p:pic>
      <p:sp>
        <p:nvSpPr>
          <p:cNvPr id="76" name="Text 60"/>
          <p:cNvSpPr txBox="1"/>
          <p:nvPr/>
        </p:nvSpPr>
        <p:spPr>
          <a:xfrm>
            <a:off x="771754" y="5177333"/>
            <a:ext cx="4005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NTIS</a:t>
            </a:r>
            <a:endParaRPr lang="en-US" sz="1000" dirty="0"/>
          </a:p>
        </p:txBody>
      </p:sp>
      <p:sp>
        <p:nvSpPr>
          <p:cNvPr id="77" name="Text 61"/>
          <p:cNvSpPr txBox="1"/>
          <p:nvPr/>
        </p:nvSpPr>
        <p:spPr>
          <a:xfrm>
            <a:off x="2870302" y="5177333"/>
            <a:ext cx="326715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국가연구개발 정보</a:t>
            </a:r>
            <a:endParaRPr lang="en-US" sz="1000" dirty="0"/>
          </a:p>
        </p:txBody>
      </p:sp>
      <p:sp>
        <p:nvSpPr>
          <p:cNvPr id="78" name="Text 62"/>
          <p:cNvSpPr txBox="1"/>
          <p:nvPr/>
        </p:nvSpPr>
        <p:spPr>
          <a:xfrm>
            <a:off x="6248095" y="5177333"/>
            <a:ext cx="14676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 API</a:t>
            </a:r>
            <a:endParaRPr lang="en-US" sz="1000" dirty="0"/>
          </a:p>
        </p:txBody>
      </p:sp>
      <p:sp>
        <p:nvSpPr>
          <p:cNvPr id="79" name="Text 63"/>
          <p:cNvSpPr txBox="1"/>
          <p:nvPr/>
        </p:nvSpPr>
        <p:spPr>
          <a:xfrm>
            <a:off x="7898587" y="5177333"/>
            <a:ext cx="905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</a:t>
            </a:r>
            <a:endParaRPr lang="en-US" sz="1000" dirty="0"/>
          </a:p>
        </p:txBody>
      </p:sp>
      <p:pic>
        <p:nvPicPr>
          <p:cNvPr id="8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62618" y="5147158"/>
            <a:ext cx="800100" cy="267005"/>
          </a:xfrm>
          <a:prstGeom prst="rect">
            <a:avLst/>
          </a:prstGeom>
        </p:spPr>
      </p:pic>
      <p:sp>
        <p:nvSpPr>
          <p:cNvPr id="81" name="Text 64"/>
          <p:cNvSpPr/>
          <p:nvPr/>
        </p:nvSpPr>
        <p:spPr>
          <a:xfrm>
            <a:off x="9338767" y="5147158"/>
            <a:ext cx="523951" cy="26700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93C5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2차 확장</a:t>
            </a:r>
            <a:endParaRPr lang="en-US" sz="900" dirty="0"/>
          </a:p>
        </p:txBody>
      </p:sp>
      <p:pic>
        <p:nvPicPr>
          <p:cNvPr id="82" name="Image 15" descr="preencoded.png">    </p:cNvPr>
          <p:cNvPicPr>
            <a:picLocks noChangeAspect="1"/>
          </p:cNvPicPr>
          <p:nvPr/>
        </p:nvPicPr>
        <p:blipFill>
          <a:blip r:embed="rId16"/>
          <a:srcRect l="-1911" r="-1911" t="0" b="0"/>
          <a:stretch/>
        </p:blipFill>
        <p:spPr>
          <a:xfrm>
            <a:off x="9167774" y="5223967"/>
            <a:ext cx="133502" cy="114300"/>
          </a:xfrm>
          <a:prstGeom prst="rect">
            <a:avLst/>
          </a:prstGeom>
        </p:spPr>
      </p:pic>
      <p:sp>
        <p:nvSpPr>
          <p:cNvPr id="83" name="Shape 65"/>
          <p:cNvSpPr/>
          <p:nvPr/>
        </p:nvSpPr>
        <p:spPr>
          <a:xfrm>
            <a:off x="457200" y="5880506"/>
            <a:ext cx="11277295" cy="847649"/>
          </a:xfrm>
          <a:prstGeom prst="roundRect">
            <a:avLst>
              <a:gd name="adj" fmla="val 9697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4" name="Shape 66"/>
          <p:cNvSpPr/>
          <p:nvPr/>
        </p:nvSpPr>
        <p:spPr>
          <a:xfrm>
            <a:off x="457200" y="5880506"/>
            <a:ext cx="38405" cy="847649"/>
          </a:xfrm>
          <a:prstGeom prst="roundRect">
            <a:avLst>
              <a:gd name="adj" fmla="val 214017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pic>
        <p:nvPicPr>
          <p:cNvPr id="85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685800" y="6162142"/>
            <a:ext cx="190195" cy="190195"/>
          </a:xfrm>
          <a:prstGeom prst="rect">
            <a:avLst/>
          </a:prstGeom>
        </p:spPr>
      </p:pic>
      <p:sp>
        <p:nvSpPr>
          <p:cNvPr id="86" name="Text 67"/>
          <p:cNvSpPr txBox="1"/>
          <p:nvPr/>
        </p:nvSpPr>
        <p:spPr>
          <a:xfrm>
            <a:off x="1028700" y="6080760"/>
            <a:ext cx="95920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6" kern="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수집 시 유의사항</a:t>
            </a:r>
            <a:endParaRPr lang="en-US" sz="1000" dirty="0"/>
          </a:p>
        </p:txBody>
      </p:sp>
      <p:sp>
        <p:nvSpPr>
          <p:cNvPr id="87" name="Text 68"/>
          <p:cNvSpPr txBox="1"/>
          <p:nvPr/>
        </p:nvSpPr>
        <p:spPr>
          <a:xfrm>
            <a:off x="1028700" y="6309360"/>
            <a:ext cx="100876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크롤링 대상 사이트의 </a:t>
            </a:r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이용약관 및 robots.txt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철저히 준수해야 합니다. Open API 사용 시 </a:t>
            </a:r>
            <a:pPr algn="l" indent="0" marL="0">
              <a:buNone/>
            </a:pPr>
            <a:r>
              <a:rPr lang="en-US" sz="1000" b="1" u="sng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공공데이터포털(data.go.kr)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활용 신청 및 API 키 발급이 선행되어야 합니다. </a:t>
            </a:r>
            <a:endParaRPr lang="en-US" sz="1000" dirty="0"/>
          </a:p>
        </p:txBody>
      </p:sp>
      <p:sp>
        <p:nvSpPr>
          <p:cNvPr id="88" name="Shape 69"/>
          <p:cNvSpPr/>
          <p:nvPr/>
        </p:nvSpPr>
        <p:spPr>
          <a:xfrm>
            <a:off x="457200" y="6954926"/>
            <a:ext cx="112772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89" name="Text 70"/>
          <p:cNvSpPr txBox="1"/>
          <p:nvPr/>
        </p:nvSpPr>
        <p:spPr>
          <a:xfrm>
            <a:off x="457200" y="7116775"/>
            <a:ext cx="43104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2025 Government Project Recommendation System. Confidential.</a:t>
            </a:r>
            <a:endParaRPr lang="en-US" sz="900" dirty="0"/>
          </a:p>
        </p:txBody>
      </p:sp>
      <p:sp>
        <p:nvSpPr>
          <p:cNvPr id="90" name="Text 71"/>
          <p:cNvSpPr txBox="1"/>
          <p:nvPr/>
        </p:nvSpPr>
        <p:spPr>
          <a:xfrm>
            <a:off x="11319358" y="7116775"/>
            <a:ext cx="4974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19810"/>
            <a:ext cx="112772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7200"/>
            <a:ext cx="4286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2" kern="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7. SYSTEM ARCHITECTURE &amp; TECH STACK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600303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아키텍처 및 기술 스택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9974275" y="590702"/>
            <a:ext cx="176570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정부 사업과제 추천 시스템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197389" y="780898"/>
            <a:ext cx="15435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기획안 v2.0</a:t>
            </a:r>
            <a:endParaRPr lang="en-US" sz="9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457200" y="1457554"/>
            <a:ext cx="11277295" cy="284012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66344" y="1466698"/>
            <a:ext cx="11259007" cy="2829154"/>
          </a:xfrm>
          <a:prstGeom prst="roundRect">
            <a:avLst>
              <a:gd name="adj" fmla="val 130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71" r="71" t="0" b="0"/>
          <a:stretch/>
        </p:blipFill>
        <p:spPr>
          <a:xfrm>
            <a:off x="3841394" y="1619402"/>
            <a:ext cx="4515307" cy="2523744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80" b="-180"/>
          <a:stretch/>
        </p:blipFill>
        <p:spPr>
          <a:xfrm>
            <a:off x="457200" y="4582973"/>
            <a:ext cx="190195" cy="1527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4205" y="4526280"/>
            <a:ext cx="30385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 (MVP 권고 vs 성숙 단계)</a:t>
            </a:r>
            <a:endParaRPr lang="en-US" sz="13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-3" r="-3" t="0" b="0"/>
          <a:stretch/>
        </p:blipFill>
        <p:spPr>
          <a:xfrm>
            <a:off x="457200" y="4907585"/>
            <a:ext cx="11277295" cy="2493569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" y="4916729"/>
            <a:ext cx="2257654" cy="40965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66344" y="4916729"/>
            <a:ext cx="2257654" cy="409651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3B82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1" kern="0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컴포넌트</a:t>
            </a:r>
            <a:endParaRPr lang="en-US" sz="10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8511" y="4916729"/>
            <a:ext cx="3381451" cy="409651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2718511" y="4916729"/>
            <a:ext cx="3381451" cy="409651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3B82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1" kern="0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MVP 권고 (초기)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6096305" y="4916729"/>
            <a:ext cx="571500" cy="409651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0" name="Shape 12"/>
          <p:cNvSpPr/>
          <p:nvPr/>
        </p:nvSpPr>
        <p:spPr>
          <a:xfrm>
            <a:off x="6096305" y="5307178"/>
            <a:ext cx="571500" cy="1920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8661" y="4916729"/>
            <a:ext cx="3381451" cy="409651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658661" y="4916729"/>
            <a:ext cx="3381451" cy="409651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3B82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1" kern="0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성숙 단계 전환 (확장)</a:t>
            </a:r>
            <a:endParaRPr lang="en-US" sz="10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36454" y="4916729"/>
            <a:ext cx="1695298" cy="409651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10036454" y="4916729"/>
            <a:ext cx="1696212" cy="409651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3B82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1" kern="0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선정 근거</a:t>
            </a:r>
            <a:endParaRPr lang="en-US" sz="1000" dirty="0"/>
          </a:p>
        </p:txBody>
      </p:sp>
      <p:sp>
        <p:nvSpPr>
          <p:cNvPr id="25" name="Shape 15"/>
          <p:cNvSpPr/>
          <p:nvPr/>
        </p:nvSpPr>
        <p:spPr>
          <a:xfrm>
            <a:off x="466344" y="5816498"/>
            <a:ext cx="2257654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6" name="Shape 16"/>
          <p:cNvSpPr/>
          <p:nvPr/>
        </p:nvSpPr>
        <p:spPr>
          <a:xfrm>
            <a:off x="619049" y="5415991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1100" b="-1100"/>
          <a:stretch/>
        </p:blipFill>
        <p:spPr>
          <a:xfrm>
            <a:off x="714146" y="5501945"/>
            <a:ext cx="114300" cy="133502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1037844" y="5470855"/>
            <a:ext cx="6291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Backend</a:t>
            </a:r>
            <a:endParaRPr lang="en-US" sz="1000" dirty="0"/>
          </a:p>
        </p:txBody>
      </p:sp>
      <p:sp>
        <p:nvSpPr>
          <p:cNvPr id="29" name="Shape 18"/>
          <p:cNvSpPr/>
          <p:nvPr/>
        </p:nvSpPr>
        <p:spPr>
          <a:xfrm>
            <a:off x="2718511" y="5816498"/>
            <a:ext cx="3381451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0" name="Text 19"/>
          <p:cNvSpPr txBox="1"/>
          <p:nvPr/>
        </p:nvSpPr>
        <p:spPr>
          <a:xfrm>
            <a:off x="2870302" y="5470855"/>
            <a:ext cx="31912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FastAPI + Pydantic</a:t>
            </a:r>
            <a:endParaRPr lang="en-US" sz="1000" dirty="0"/>
          </a:p>
        </p:txBody>
      </p:sp>
      <p:sp>
        <p:nvSpPr>
          <p:cNvPr id="31" name="Shape 20"/>
          <p:cNvSpPr/>
          <p:nvPr/>
        </p:nvSpPr>
        <p:spPr>
          <a:xfrm>
            <a:off x="6096305" y="5816498"/>
            <a:ext cx="5715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rcRect l="-2571" r="-2571" t="0" b="0"/>
          <a:stretch/>
        </p:blipFill>
        <p:spPr>
          <a:xfrm>
            <a:off x="6324905" y="5523890"/>
            <a:ext cx="105156" cy="114300"/>
          </a:xfrm>
          <a:prstGeom prst="rect">
            <a:avLst/>
          </a:prstGeom>
        </p:spPr>
      </p:pic>
      <p:sp>
        <p:nvSpPr>
          <p:cNvPr id="33" name="Shape 21"/>
          <p:cNvSpPr/>
          <p:nvPr/>
        </p:nvSpPr>
        <p:spPr>
          <a:xfrm>
            <a:off x="6658661" y="5816498"/>
            <a:ext cx="3381451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4" name="Text 22"/>
          <p:cNvSpPr txBox="1"/>
          <p:nvPr/>
        </p:nvSpPr>
        <p:spPr>
          <a:xfrm>
            <a:off x="6811366" y="5470855"/>
            <a:ext cx="32671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(동일 유지)</a:t>
            </a:r>
            <a:endParaRPr lang="en-US" sz="1000" dirty="0"/>
          </a:p>
        </p:txBody>
      </p:sp>
      <p:sp>
        <p:nvSpPr>
          <p:cNvPr id="35" name="Shape 23"/>
          <p:cNvSpPr/>
          <p:nvPr/>
        </p:nvSpPr>
        <p:spPr>
          <a:xfrm>
            <a:off x="10036454" y="5816498"/>
            <a:ext cx="169529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6" name="Text 24"/>
          <p:cNvSpPr txBox="1"/>
          <p:nvPr/>
        </p:nvSpPr>
        <p:spPr>
          <a:xfrm>
            <a:off x="10188245" y="5415991"/>
            <a:ext cx="14484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 생태계 표준, 타입 안전성</a:t>
            </a:r>
            <a:endParaRPr lang="en-US" sz="900" dirty="0"/>
          </a:p>
        </p:txBody>
      </p:sp>
      <p:sp>
        <p:nvSpPr>
          <p:cNvPr id="37" name="Shape 25"/>
          <p:cNvSpPr/>
          <p:nvPr/>
        </p:nvSpPr>
        <p:spPr>
          <a:xfrm>
            <a:off x="466344" y="5825642"/>
            <a:ext cx="11259007" cy="571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26"/>
          <p:cNvSpPr/>
          <p:nvPr/>
        </p:nvSpPr>
        <p:spPr>
          <a:xfrm>
            <a:off x="466344" y="6387998"/>
            <a:ext cx="2257654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9" name="Shape 27"/>
          <p:cNvSpPr/>
          <p:nvPr/>
        </p:nvSpPr>
        <p:spPr>
          <a:xfrm>
            <a:off x="619049" y="5950915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1100" b="-1100"/>
          <a:stretch/>
        </p:blipFill>
        <p:spPr>
          <a:xfrm>
            <a:off x="714146" y="6036869"/>
            <a:ext cx="114300" cy="133502"/>
          </a:xfrm>
          <a:prstGeom prst="rect">
            <a:avLst/>
          </a:prstGeom>
        </p:spPr>
      </p:pic>
      <p:sp>
        <p:nvSpPr>
          <p:cNvPr id="41" name="Text 28"/>
          <p:cNvSpPr txBox="1"/>
          <p:nvPr/>
        </p:nvSpPr>
        <p:spPr>
          <a:xfrm>
            <a:off x="1037844" y="6006694"/>
            <a:ext cx="8842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/ Search</a:t>
            </a:r>
            <a:endParaRPr lang="en-US" sz="1000" dirty="0"/>
          </a:p>
        </p:txBody>
      </p:sp>
      <p:sp>
        <p:nvSpPr>
          <p:cNvPr id="42" name="Shape 29"/>
          <p:cNvSpPr/>
          <p:nvPr/>
        </p:nvSpPr>
        <p:spPr>
          <a:xfrm>
            <a:off x="2718511" y="6387998"/>
            <a:ext cx="3381451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3" name="Text 30"/>
          <p:cNvSpPr txBox="1"/>
          <p:nvPr/>
        </p:nvSpPr>
        <p:spPr>
          <a:xfrm>
            <a:off x="2870302" y="5920740"/>
            <a:ext cx="31912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PostgreSQL 18 + pgvector</a:t>
            </a:r>
            <a:endParaRPr lang="en-US" sz="1000" dirty="0"/>
          </a:p>
        </p:txBody>
      </p:sp>
      <p:sp>
        <p:nvSpPr>
          <p:cNvPr id="44" name="Text 31"/>
          <p:cNvSpPr txBox="1"/>
          <p:nvPr/>
        </p:nvSpPr>
        <p:spPr>
          <a:xfrm>
            <a:off x="2870302" y="6133795"/>
            <a:ext cx="31912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Full Text Search (pg_trgm)</a:t>
            </a:r>
            <a:endParaRPr lang="en-US" sz="900" dirty="0"/>
          </a:p>
        </p:txBody>
      </p:sp>
      <p:sp>
        <p:nvSpPr>
          <p:cNvPr id="45" name="Shape 32"/>
          <p:cNvSpPr/>
          <p:nvPr/>
        </p:nvSpPr>
        <p:spPr>
          <a:xfrm>
            <a:off x="6096305" y="6387998"/>
            <a:ext cx="5715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12"/>
          <a:srcRect l="-2571" r="-2571" t="0" b="0"/>
          <a:stretch/>
        </p:blipFill>
        <p:spPr>
          <a:xfrm>
            <a:off x="6324905" y="6058814"/>
            <a:ext cx="105156" cy="114300"/>
          </a:xfrm>
          <a:prstGeom prst="rect">
            <a:avLst/>
          </a:prstGeom>
        </p:spPr>
      </p:pic>
      <p:sp>
        <p:nvSpPr>
          <p:cNvPr id="47" name="Shape 33"/>
          <p:cNvSpPr/>
          <p:nvPr/>
        </p:nvSpPr>
        <p:spPr>
          <a:xfrm>
            <a:off x="6658661" y="6387998"/>
            <a:ext cx="3381451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8" name="Text 34"/>
          <p:cNvSpPr txBox="1"/>
          <p:nvPr/>
        </p:nvSpPr>
        <p:spPr>
          <a:xfrm>
            <a:off x="6811366" y="5920740"/>
            <a:ext cx="31912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OpenSearch 도입</a:t>
            </a:r>
            <a:endParaRPr lang="en-US" sz="1000" dirty="0"/>
          </a:p>
        </p:txBody>
      </p:sp>
      <p:sp>
        <p:nvSpPr>
          <p:cNvPr id="49" name="Text 35"/>
          <p:cNvSpPr txBox="1"/>
          <p:nvPr/>
        </p:nvSpPr>
        <p:spPr>
          <a:xfrm>
            <a:off x="6811366" y="6133795"/>
            <a:ext cx="32671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(트래픽 급증 시)</a:t>
            </a:r>
            <a:endParaRPr lang="en-US" sz="900" dirty="0"/>
          </a:p>
        </p:txBody>
      </p:sp>
      <p:sp>
        <p:nvSpPr>
          <p:cNvPr id="50" name="Shape 36"/>
          <p:cNvSpPr/>
          <p:nvPr/>
        </p:nvSpPr>
        <p:spPr>
          <a:xfrm>
            <a:off x="10036454" y="6387998"/>
            <a:ext cx="169529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1" name="Text 37"/>
          <p:cNvSpPr txBox="1"/>
          <p:nvPr/>
        </p:nvSpPr>
        <p:spPr>
          <a:xfrm>
            <a:off x="10188245" y="5950915"/>
            <a:ext cx="14484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DB로 MVP 운영 복잡도 최소화</a:t>
            </a:r>
            <a:endParaRPr lang="en-US" sz="900" dirty="0"/>
          </a:p>
        </p:txBody>
      </p:sp>
      <p:sp>
        <p:nvSpPr>
          <p:cNvPr id="52" name="Shape 38"/>
          <p:cNvSpPr/>
          <p:nvPr/>
        </p:nvSpPr>
        <p:spPr>
          <a:xfrm>
            <a:off x="466344" y="6887261"/>
            <a:ext cx="2257654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3" name="Shape 39"/>
          <p:cNvSpPr/>
          <p:nvPr/>
        </p:nvSpPr>
        <p:spPr>
          <a:xfrm>
            <a:off x="619049" y="6486754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</p:spPr>
      </p:sp>
      <p:pic>
        <p:nvPicPr>
          <p:cNvPr id="54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705002" y="6572707"/>
            <a:ext cx="133502" cy="133502"/>
          </a:xfrm>
          <a:prstGeom prst="rect">
            <a:avLst/>
          </a:prstGeom>
        </p:spPr>
      </p:pic>
      <p:sp>
        <p:nvSpPr>
          <p:cNvPr id="55" name="Text 40"/>
          <p:cNvSpPr txBox="1"/>
          <p:nvPr/>
        </p:nvSpPr>
        <p:spPr>
          <a:xfrm>
            <a:off x="1037844" y="6541618"/>
            <a:ext cx="79369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Infra / Job</a:t>
            </a:r>
            <a:endParaRPr lang="en-US" sz="1000" dirty="0"/>
          </a:p>
        </p:txBody>
      </p:sp>
      <p:sp>
        <p:nvSpPr>
          <p:cNvPr id="56" name="Shape 41"/>
          <p:cNvSpPr/>
          <p:nvPr/>
        </p:nvSpPr>
        <p:spPr>
          <a:xfrm>
            <a:off x="2718511" y="6887261"/>
            <a:ext cx="3381451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7" name="Text 42"/>
          <p:cNvSpPr txBox="1"/>
          <p:nvPr/>
        </p:nvSpPr>
        <p:spPr>
          <a:xfrm>
            <a:off x="2870302" y="6541618"/>
            <a:ext cx="31912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Docker Compose / APScheduler</a:t>
            </a:r>
            <a:endParaRPr lang="en-US" sz="1000" dirty="0"/>
          </a:p>
        </p:txBody>
      </p:sp>
      <p:sp>
        <p:nvSpPr>
          <p:cNvPr id="58" name="Shape 43"/>
          <p:cNvSpPr/>
          <p:nvPr/>
        </p:nvSpPr>
        <p:spPr>
          <a:xfrm>
            <a:off x="6096305" y="6887261"/>
            <a:ext cx="5715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pic>
        <p:nvPicPr>
          <p:cNvPr id="59" name="Image 13" descr="preencoded.png">    </p:cNvPr>
          <p:cNvPicPr>
            <a:picLocks noChangeAspect="1"/>
          </p:cNvPicPr>
          <p:nvPr/>
        </p:nvPicPr>
        <p:blipFill>
          <a:blip r:embed="rId14"/>
          <a:srcRect l="-2571" r="-2571" t="0" b="0"/>
          <a:stretch/>
        </p:blipFill>
        <p:spPr>
          <a:xfrm>
            <a:off x="6324905" y="6593738"/>
            <a:ext cx="105156" cy="114300"/>
          </a:xfrm>
          <a:prstGeom prst="rect">
            <a:avLst/>
          </a:prstGeom>
        </p:spPr>
      </p:pic>
      <p:sp>
        <p:nvSpPr>
          <p:cNvPr id="60" name="Shape 44"/>
          <p:cNvSpPr/>
          <p:nvPr/>
        </p:nvSpPr>
        <p:spPr>
          <a:xfrm>
            <a:off x="6658661" y="6887261"/>
            <a:ext cx="3381451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61" name="Text 45"/>
          <p:cNvSpPr txBox="1"/>
          <p:nvPr/>
        </p:nvSpPr>
        <p:spPr>
          <a:xfrm>
            <a:off x="6811366" y="6541618"/>
            <a:ext cx="31912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Kubernetes / Airflow</a:t>
            </a:r>
            <a:endParaRPr lang="en-US" sz="1000" dirty="0"/>
          </a:p>
        </p:txBody>
      </p:sp>
      <p:sp>
        <p:nvSpPr>
          <p:cNvPr id="62" name="Shape 46"/>
          <p:cNvSpPr/>
          <p:nvPr/>
        </p:nvSpPr>
        <p:spPr>
          <a:xfrm>
            <a:off x="10036454" y="6887261"/>
            <a:ext cx="169529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63" name="Text 47"/>
          <p:cNvSpPr txBox="1"/>
          <p:nvPr/>
        </p:nvSpPr>
        <p:spPr>
          <a:xfrm>
            <a:off x="10188245" y="6486754"/>
            <a:ext cx="14484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비용 절감 및 단계적 전환</a:t>
            </a:r>
            <a:endParaRPr lang="en-US" sz="900" dirty="0"/>
          </a:p>
        </p:txBody>
      </p:sp>
      <p:sp>
        <p:nvSpPr>
          <p:cNvPr id="64" name="Shape 48"/>
          <p:cNvSpPr/>
          <p:nvPr/>
        </p:nvSpPr>
        <p:spPr>
          <a:xfrm>
            <a:off x="466344" y="6896405"/>
            <a:ext cx="11259007" cy="495605"/>
          </a:xfrm>
          <a:prstGeom prst="roundRect">
            <a:avLst>
              <a:gd name="adj" fmla="val 42577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49"/>
          <p:cNvSpPr/>
          <p:nvPr/>
        </p:nvSpPr>
        <p:spPr>
          <a:xfrm>
            <a:off x="619049" y="6991502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66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705002" y="7077456"/>
            <a:ext cx="133502" cy="133502"/>
          </a:xfrm>
          <a:prstGeom prst="rect">
            <a:avLst/>
          </a:prstGeom>
        </p:spPr>
      </p:pic>
      <p:sp>
        <p:nvSpPr>
          <p:cNvPr id="67" name="Text 50"/>
          <p:cNvSpPr txBox="1"/>
          <p:nvPr/>
        </p:nvSpPr>
        <p:spPr>
          <a:xfrm>
            <a:off x="1037844" y="7046366"/>
            <a:ext cx="10323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Observability</a:t>
            </a:r>
            <a:endParaRPr lang="en-US" sz="1000" dirty="0"/>
          </a:p>
        </p:txBody>
      </p:sp>
      <p:sp>
        <p:nvSpPr>
          <p:cNvPr id="68" name="Text 51"/>
          <p:cNvSpPr txBox="1"/>
          <p:nvPr/>
        </p:nvSpPr>
        <p:spPr>
          <a:xfrm>
            <a:off x="2870302" y="7046366"/>
            <a:ext cx="31912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Prometheus + Grafana</a:t>
            </a:r>
            <a:endParaRPr lang="en-US" sz="1000" dirty="0"/>
          </a:p>
        </p:txBody>
      </p:sp>
      <p:pic>
        <p:nvPicPr>
          <p:cNvPr id="69" name="Image 15" descr="preencoded.png">    </p:cNvPr>
          <p:cNvPicPr>
            <a:picLocks noChangeAspect="1"/>
          </p:cNvPicPr>
          <p:nvPr/>
        </p:nvPicPr>
        <p:blipFill>
          <a:blip r:embed="rId16"/>
          <a:srcRect l="-2571" r="-2571" t="0" b="0"/>
          <a:stretch/>
        </p:blipFill>
        <p:spPr>
          <a:xfrm>
            <a:off x="6324905" y="7099402"/>
            <a:ext cx="105156" cy="114300"/>
          </a:xfrm>
          <a:prstGeom prst="rect">
            <a:avLst/>
          </a:prstGeom>
        </p:spPr>
      </p:pic>
      <p:sp>
        <p:nvSpPr>
          <p:cNvPr id="70" name="Text 52"/>
          <p:cNvSpPr txBox="1"/>
          <p:nvPr/>
        </p:nvSpPr>
        <p:spPr>
          <a:xfrm>
            <a:off x="6811366" y="7046366"/>
            <a:ext cx="31912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OpenTelemetry 연동 강화</a:t>
            </a:r>
            <a:endParaRPr lang="en-US" sz="1000" dirty="0"/>
          </a:p>
        </p:txBody>
      </p:sp>
      <p:sp>
        <p:nvSpPr>
          <p:cNvPr id="71" name="Text 53"/>
          <p:cNvSpPr txBox="1"/>
          <p:nvPr/>
        </p:nvSpPr>
        <p:spPr>
          <a:xfrm>
            <a:off x="10188245" y="7067398"/>
            <a:ext cx="150235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 모니터링 스택 활용</a:t>
            </a:r>
            <a:endParaRPr lang="en-US" sz="900" dirty="0"/>
          </a:p>
        </p:txBody>
      </p:sp>
      <p:sp>
        <p:nvSpPr>
          <p:cNvPr id="72" name="Shape 54"/>
          <p:cNvSpPr/>
          <p:nvPr/>
        </p:nvSpPr>
        <p:spPr>
          <a:xfrm>
            <a:off x="457200" y="7401154"/>
            <a:ext cx="112772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73" name="Text 55"/>
          <p:cNvSpPr txBox="1"/>
          <p:nvPr/>
        </p:nvSpPr>
        <p:spPr>
          <a:xfrm>
            <a:off x="457200" y="7563002"/>
            <a:ext cx="43104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2025 Government Project Recommendation System. Confidential.</a:t>
            </a:r>
            <a:endParaRPr lang="en-US" sz="900" dirty="0"/>
          </a:p>
        </p:txBody>
      </p:sp>
      <p:sp>
        <p:nvSpPr>
          <p:cNvPr id="74" name="Text 56"/>
          <p:cNvSpPr txBox="1"/>
          <p:nvPr/>
        </p:nvSpPr>
        <p:spPr>
          <a:xfrm>
            <a:off x="11319358" y="7563002"/>
            <a:ext cx="4974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08</a:t>
            </a:r>
            <a:endParaRPr lang="en-US" sz="900" dirty="0"/>
          </a:p>
        </p:txBody>
      </p:sp>
      <p:pic>
        <p:nvPicPr>
          <p:cNvPr id="75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9049" y="1609344"/>
            <a:ext cx="1399946" cy="276149"/>
          </a:xfrm>
          <a:prstGeom prst="rect">
            <a:avLst/>
          </a:prstGeom>
        </p:spPr>
      </p:pic>
      <p:sp>
        <p:nvSpPr>
          <p:cNvPr id="76" name="Text 57"/>
          <p:cNvSpPr/>
          <p:nvPr/>
        </p:nvSpPr>
        <p:spPr>
          <a:xfrm>
            <a:off x="923544" y="1609344"/>
            <a:ext cx="1096366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5계층 논리 아키텍처</a:t>
            </a:r>
            <a:endParaRPr lang="en-US" sz="900" dirty="0"/>
          </a:p>
        </p:txBody>
      </p:sp>
      <p:pic>
        <p:nvPicPr>
          <p:cNvPr id="77" name="Image 17" descr="preencoded.png">    </p:cNvPr>
          <p:cNvPicPr>
            <a:picLocks noChangeAspect="1"/>
          </p:cNvPicPr>
          <p:nvPr/>
        </p:nvPicPr>
        <p:blipFill>
          <a:blip r:embed="rId18"/>
          <a:srcRect l="-1911" r="-1911" t="0" b="0"/>
          <a:stretch/>
        </p:blipFill>
        <p:spPr>
          <a:xfrm>
            <a:off x="733349" y="1699870"/>
            <a:ext cx="133502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19810"/>
            <a:ext cx="112772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7200"/>
            <a:ext cx="17574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2" kern="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8. DEVELOPMENT PLAN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202722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계획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9974275" y="590702"/>
            <a:ext cx="176570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정부 사업과제 추천 시스템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197389" y="780898"/>
            <a:ext cx="15435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기획안 v2.0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457554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3095" y="1533449"/>
            <a:ext cx="152705" cy="15270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75995" y="1476756"/>
            <a:ext cx="8961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MVP 범위</a:t>
            </a:r>
            <a:endParaRPr lang="en-US" sz="15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-6" r="-6" t="0" b="0"/>
          <a:stretch/>
        </p:blipFill>
        <p:spPr>
          <a:xfrm>
            <a:off x="457200" y="1876349"/>
            <a:ext cx="3683203" cy="489569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57454" y="2076602"/>
            <a:ext cx="3286354" cy="743407"/>
          </a:xfrm>
          <a:prstGeom prst="roundRect">
            <a:avLst>
              <a:gd name="adj" fmla="val 12616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57454" y="2076602"/>
            <a:ext cx="28346" cy="743407"/>
          </a:xfrm>
          <a:prstGeom prst="roundRect">
            <a:avLst>
              <a:gd name="adj" fmla="val 330857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80898" y="2219249"/>
            <a:ext cx="171907" cy="17190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67105" y="2180844"/>
            <a:ext cx="29626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공고 수집 및 검색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1067105" y="2409444"/>
            <a:ext cx="28483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 출처(IRIS, K-스타트업, 기업마당) 수집 및 기본 검색 기능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657454" y="2952598"/>
            <a:ext cx="3286354" cy="590702"/>
          </a:xfrm>
          <a:prstGeom prst="roundRect">
            <a:avLst>
              <a:gd name="adj" fmla="val 19974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57454" y="2952598"/>
            <a:ext cx="28346" cy="590702"/>
          </a:xfrm>
          <a:prstGeom prst="roundRect">
            <a:avLst>
              <a:gd name="adj" fmla="val 416239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42" b="-842"/>
          <a:stretch/>
        </p:blipFill>
        <p:spPr>
          <a:xfrm>
            <a:off x="780898" y="3095244"/>
            <a:ext cx="190195" cy="17190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086307" y="3057754"/>
            <a:ext cx="26197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프로필 관리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1086307" y="3286354"/>
            <a:ext cx="30028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수동 입력 + 반자동 파싱을 통한 프로필 데이터 구축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657454" y="3676802"/>
            <a:ext cx="3286354" cy="590702"/>
          </a:xfrm>
          <a:prstGeom prst="roundRect">
            <a:avLst>
              <a:gd name="adj" fmla="val 19974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57454" y="3676802"/>
            <a:ext cx="28346" cy="590702"/>
          </a:xfrm>
          <a:prstGeom prst="roundRect">
            <a:avLst>
              <a:gd name="adj" fmla="val 416239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42" b="-842"/>
          <a:stretch/>
        </p:blipFill>
        <p:spPr>
          <a:xfrm>
            <a:off x="780898" y="3819449"/>
            <a:ext cx="190195" cy="17190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86307" y="3781044"/>
            <a:ext cx="256214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 및 스코어링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1086307" y="4009644"/>
            <a:ext cx="294711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규칙기반 스코어링 Top 10 선정 및 추천 근거 제시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657454" y="4401007"/>
            <a:ext cx="3286354" cy="590702"/>
          </a:xfrm>
          <a:prstGeom prst="roundRect">
            <a:avLst>
              <a:gd name="adj" fmla="val 19974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57454" y="4401007"/>
            <a:ext cx="28346" cy="590702"/>
          </a:xfrm>
          <a:prstGeom prst="roundRect">
            <a:avLst>
              <a:gd name="adj" fmla="val 416239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80898" y="4543654"/>
            <a:ext cx="171907" cy="171907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067105" y="4505249"/>
            <a:ext cx="17693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갭 분석 및 경고</a:t>
            </a:r>
            <a:endParaRPr lang="en-US" sz="1000" dirty="0"/>
          </a:p>
        </p:txBody>
      </p:sp>
      <p:sp>
        <p:nvSpPr>
          <p:cNvPr id="32" name="Text 24"/>
          <p:cNvSpPr txBox="1"/>
          <p:nvPr/>
        </p:nvSpPr>
        <p:spPr>
          <a:xfrm>
            <a:off x="1067105" y="4733849"/>
            <a:ext cx="20107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미충족 필수 요건에 대한 경고 알림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657454" y="5124298"/>
            <a:ext cx="3286354" cy="590702"/>
          </a:xfrm>
          <a:prstGeom prst="roundRect">
            <a:avLst>
              <a:gd name="adj" fmla="val 19974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657454" y="5124298"/>
            <a:ext cx="28346" cy="590702"/>
          </a:xfrm>
          <a:prstGeom prst="roundRect">
            <a:avLst>
              <a:gd name="adj" fmla="val 416239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2725" b="-2725"/>
          <a:stretch/>
        </p:blipFill>
        <p:spPr>
          <a:xfrm>
            <a:off x="780898" y="5266944"/>
            <a:ext cx="142646" cy="171907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037844" y="5229454"/>
            <a:ext cx="19549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알림 기능</a:t>
            </a:r>
            <a:endParaRPr lang="en-US" sz="1000" dirty="0"/>
          </a:p>
        </p:txBody>
      </p:sp>
      <p:sp>
        <p:nvSpPr>
          <p:cNvPr id="37" name="Text 28"/>
          <p:cNvSpPr txBox="1"/>
          <p:nvPr/>
        </p:nvSpPr>
        <p:spPr>
          <a:xfrm>
            <a:off x="1037844" y="5458054"/>
            <a:ext cx="227137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관심 과제 및 추천 과제 마감 임박 알림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657454" y="5848502"/>
            <a:ext cx="3286354" cy="590702"/>
          </a:xfrm>
          <a:prstGeom prst="roundRect">
            <a:avLst>
              <a:gd name="adj" fmla="val 19974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657454" y="5848502"/>
            <a:ext cx="28346" cy="590702"/>
          </a:xfrm>
          <a:prstGeom prst="roundRect">
            <a:avLst>
              <a:gd name="adj" fmla="val 416239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2222" b="-2222"/>
          <a:stretch/>
        </p:blipFill>
        <p:spPr>
          <a:xfrm>
            <a:off x="780898" y="5991149"/>
            <a:ext cx="123444" cy="171907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1019556" y="5952744"/>
            <a:ext cx="21817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파싱</a:t>
            </a:r>
            <a:endParaRPr lang="en-US" sz="1000" dirty="0"/>
          </a:p>
        </p:txBody>
      </p:sp>
      <p:sp>
        <p:nvSpPr>
          <p:cNvPr id="42" name="Text 32"/>
          <p:cNvSpPr txBox="1"/>
          <p:nvPr/>
        </p:nvSpPr>
        <p:spPr>
          <a:xfrm>
            <a:off x="1019556" y="6181344"/>
            <a:ext cx="23582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HWPX 신청 양식 및 PDF 지침 자료 구조화</a:t>
            </a:r>
            <a:endParaRPr lang="en-US" sz="900" dirty="0"/>
          </a:p>
        </p:txBody>
      </p:sp>
      <p:sp>
        <p:nvSpPr>
          <p:cNvPr id="43" name="Shape 33"/>
          <p:cNvSpPr/>
          <p:nvPr/>
        </p:nvSpPr>
        <p:spPr>
          <a:xfrm>
            <a:off x="4369003" y="1457554"/>
            <a:ext cx="304495" cy="304495"/>
          </a:xfrm>
          <a:prstGeom prst="roundRect">
            <a:avLst>
              <a:gd name="adj" fmla="val 3753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100" b="-100"/>
          <a:stretch/>
        </p:blipFill>
        <p:spPr>
          <a:xfrm>
            <a:off x="4464101" y="1533449"/>
            <a:ext cx="114300" cy="152705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4787798" y="1476756"/>
            <a:ext cx="139537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MVP 검증 기준</a:t>
            </a:r>
            <a:endParaRPr lang="en-US" sz="1500" dirty="0"/>
          </a:p>
        </p:txBody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0"/>
          <a:srcRect l="-9" r="-9" t="0" b="0"/>
          <a:stretch/>
        </p:blipFill>
        <p:spPr>
          <a:xfrm>
            <a:off x="4369003" y="1876349"/>
            <a:ext cx="7366406" cy="2133295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78147" y="1886407"/>
          <a:ext cx="7353605" cy="2115007"/>
        </p:xfrm>
        <a:graphic>
          <a:graphicData uri="http://schemas.openxmlformats.org/drawingml/2006/table">
            <a:tbl>
              <a:tblPr/>
              <a:tblGrid>
                <a:gridCol w="1837030"/>
                <a:gridCol w="1469441"/>
                <a:gridCol w="2203704"/>
                <a:gridCol w="1837030"/>
              </a:tblGrid>
              <a:tr h="4230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1E3A8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검증 지표</a:t>
                      </a:r>
                      <a:endParaRPr lang="en-US" sz="102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1E3A8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목표값</a:t>
                      </a:r>
                      <a:endParaRPr lang="en-US" sz="102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1E3A8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측정 방법</a:t>
                      </a:r>
                      <a:endParaRPr lang="en-US" sz="102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1E3A8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완료 기준</a:t>
                      </a:r>
                      <a:endParaRPr lang="en-US" sz="102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4230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추천 정확도</a:t>
                      </a:r>
                      <a:endParaRPr lang="en-US" sz="1200" dirty="0"/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0596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≥ 70%</a:t>
                      </a:r>
                      <a:endParaRPr lang="en-US" sz="1200" dirty="0"/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파일럿 기업 담당자 설문</a:t>
                      </a:r>
                      <a:endParaRPr lang="en-US" sz="1200" dirty="0"/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5개 기업 × 5회 평가</a:t>
                      </a:r>
                      <a:endParaRPr lang="en-US" sz="1200" dirty="0"/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30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수집 커버리지</a:t>
                      </a:r>
                      <a:endParaRPr lang="en-US" sz="1200" dirty="0"/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0596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100%</a:t>
                      </a:r>
                      <a:endParaRPr lang="en-US" sz="1200" dirty="0"/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주요 출처 3곳 건수 대조</a:t>
                      </a:r>
                      <a:endParaRPr lang="en-US" sz="1200" dirty="0"/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 단위 갱신 확인</a:t>
                      </a:r>
                      <a:endParaRPr lang="en-US" sz="1200" dirty="0"/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30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자격요건 파싱</a:t>
                      </a:r>
                      <a:endParaRPr lang="en-US" sz="1200" dirty="0"/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0596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≥ 85%</a:t>
                      </a:r>
                      <a:endParaRPr lang="en-US" sz="1200" dirty="0"/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정답셋 50건 비교</a:t>
                      </a:r>
                      <a:endParaRPr lang="en-US" sz="1200" dirty="0"/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오프라인 평가셋 구축</a:t>
                      </a:r>
                      <a:endParaRPr lang="en-US" sz="1200" dirty="0"/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30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응답 시간</a:t>
                      </a:r>
                      <a:endParaRPr lang="en-US" sz="1200" dirty="0"/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0596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&lt; 3초</a:t>
                      </a:r>
                      <a:endParaRPr lang="en-US" sz="1200" dirty="0"/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APM 측정 (p95)</a:t>
                      </a:r>
                      <a:endParaRPr lang="en-US" sz="1200" dirty="0"/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부하 테스트 통과</a:t>
                      </a:r>
                      <a:endParaRPr lang="en-US" sz="1200" dirty="0"/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8" name="Shape 35"/>
          <p:cNvSpPr/>
          <p:nvPr/>
        </p:nvSpPr>
        <p:spPr>
          <a:xfrm>
            <a:off x="4369003" y="4200754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E0E7FF"/>
          </a:solidFill>
          <a:ln w="12700">
            <a:solidFill>
              <a:srgbClr val="C7D2FE"/>
            </a:solidFill>
            <a:prstDash val="solid"/>
          </a:ln>
        </p:spPr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43" b="-43"/>
          <a:stretch/>
        </p:blipFill>
        <p:spPr>
          <a:xfrm>
            <a:off x="4454042" y="4276649"/>
            <a:ext cx="133502" cy="152705"/>
          </a:xfrm>
          <a:prstGeom prst="rect">
            <a:avLst/>
          </a:prstGeom>
        </p:spPr>
      </p:pic>
      <p:sp>
        <p:nvSpPr>
          <p:cNvPr id="50" name="Text 36"/>
          <p:cNvSpPr txBox="1"/>
          <p:nvPr/>
        </p:nvSpPr>
        <p:spPr>
          <a:xfrm>
            <a:off x="4787798" y="4219956"/>
            <a:ext cx="18388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 계획 (8개월)</a:t>
            </a:r>
            <a:endParaRPr lang="en-US" sz="1500" dirty="0"/>
          </a:p>
        </p:txBody>
      </p:sp>
      <p:pic>
        <p:nvPicPr>
          <p:cNvPr id="51" name="Image 11" descr="preencoded.png">    </p:cNvPr>
          <p:cNvPicPr>
            <a:picLocks noChangeAspect="1"/>
          </p:cNvPicPr>
          <p:nvPr/>
        </p:nvPicPr>
        <p:blipFill>
          <a:blip r:embed="rId12"/>
          <a:srcRect l="-6" r="-6" t="0" b="0"/>
          <a:stretch/>
        </p:blipFill>
        <p:spPr>
          <a:xfrm>
            <a:off x="4369003" y="4619549"/>
            <a:ext cx="7366406" cy="2152498"/>
          </a:xfrm>
          <a:prstGeom prst="rect">
            <a:avLst/>
          </a:prstGeom>
        </p:spPr>
      </p:pic>
      <p:sp>
        <p:nvSpPr>
          <p:cNvPr id="52" name="Text 37"/>
          <p:cNvSpPr txBox="1"/>
          <p:nvPr/>
        </p:nvSpPr>
        <p:spPr>
          <a:xfrm>
            <a:off x="4530852" y="4781398"/>
            <a:ext cx="9912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PoC</a:t>
            </a:r>
            <a:endParaRPr lang="en-US" sz="1000" dirty="0"/>
          </a:p>
        </p:txBody>
      </p:sp>
      <p:sp>
        <p:nvSpPr>
          <p:cNvPr id="53" name="Text 38"/>
          <p:cNvSpPr txBox="1"/>
          <p:nvPr/>
        </p:nvSpPr>
        <p:spPr>
          <a:xfrm>
            <a:off x="4530852" y="4972507"/>
            <a:ext cx="9912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M1 ~ M2</a:t>
            </a:r>
            <a:endParaRPr lang="en-US" sz="900" dirty="0"/>
          </a:p>
        </p:txBody>
      </p:sp>
      <p:pic>
        <p:nvPicPr>
          <p:cNvPr id="54" name="Image 12" descr="preencoded.png">    </p:cNvPr>
          <p:cNvPicPr>
            <a:picLocks noChangeAspect="1"/>
          </p:cNvPicPr>
          <p:nvPr/>
        </p:nvPicPr>
        <p:blipFill>
          <a:blip r:embed="rId13"/>
          <a:srcRect l="-192" r="-192" t="0" b="0"/>
          <a:stretch/>
        </p:blipFill>
        <p:spPr>
          <a:xfrm>
            <a:off x="5445252" y="4819802"/>
            <a:ext cx="1531620" cy="75895"/>
          </a:xfrm>
          <a:prstGeom prst="rect">
            <a:avLst/>
          </a:prstGeom>
        </p:spPr>
      </p:pic>
      <p:sp>
        <p:nvSpPr>
          <p:cNvPr id="55" name="Text 39"/>
          <p:cNvSpPr txBox="1"/>
          <p:nvPr/>
        </p:nvSpPr>
        <p:spPr>
          <a:xfrm>
            <a:off x="5445252" y="4934102"/>
            <a:ext cx="63249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스키마 확정, IRIS 수집, 규칙 초안, 파일럿 1개사</a:t>
            </a:r>
            <a:endParaRPr lang="en-US" sz="900" dirty="0"/>
          </a:p>
        </p:txBody>
      </p:sp>
      <p:sp>
        <p:nvSpPr>
          <p:cNvPr id="56" name="Text 40"/>
          <p:cNvSpPr txBox="1"/>
          <p:nvPr/>
        </p:nvSpPr>
        <p:spPr>
          <a:xfrm>
            <a:off x="4530852" y="5277002"/>
            <a:ext cx="9912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MVP v1</a:t>
            </a:r>
            <a:endParaRPr lang="en-US" sz="1000" dirty="0"/>
          </a:p>
        </p:txBody>
      </p:sp>
      <p:sp>
        <p:nvSpPr>
          <p:cNvPr id="57" name="Text 41"/>
          <p:cNvSpPr txBox="1"/>
          <p:nvPr/>
        </p:nvSpPr>
        <p:spPr>
          <a:xfrm>
            <a:off x="4530852" y="5467198"/>
            <a:ext cx="9912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M3 ~ M4</a:t>
            </a:r>
            <a:endParaRPr lang="en-US" sz="900" dirty="0"/>
          </a:p>
        </p:txBody>
      </p:sp>
      <p:pic>
        <p:nvPicPr>
          <p:cNvPr id="58" name="Image 13" descr="preencoded.png">    </p:cNvPr>
          <p:cNvPicPr>
            <a:picLocks noChangeAspect="1"/>
          </p:cNvPicPr>
          <p:nvPr/>
        </p:nvPicPr>
        <p:blipFill>
          <a:blip r:embed="rId14"/>
          <a:srcRect l="-192" r="-192" t="0" b="0"/>
          <a:stretch/>
        </p:blipFill>
        <p:spPr>
          <a:xfrm>
            <a:off x="5445252" y="5315407"/>
            <a:ext cx="1531620" cy="75895"/>
          </a:xfrm>
          <a:prstGeom prst="rect">
            <a:avLst/>
          </a:prstGeom>
        </p:spPr>
      </p:pic>
      <p:sp>
        <p:nvSpPr>
          <p:cNvPr id="59" name="Text 42"/>
          <p:cNvSpPr txBox="1"/>
          <p:nvPr/>
        </p:nvSpPr>
        <p:spPr>
          <a:xfrm>
            <a:off x="5445252" y="5429707"/>
            <a:ext cx="63249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 출처 수집, 프로필 UI, 스코어링 엔진, 추천 화면</a:t>
            </a:r>
            <a:endParaRPr lang="en-US" sz="900" dirty="0"/>
          </a:p>
        </p:txBody>
      </p:sp>
      <p:sp>
        <p:nvSpPr>
          <p:cNvPr id="60" name="Text 43"/>
          <p:cNvSpPr txBox="1"/>
          <p:nvPr/>
        </p:nvSpPr>
        <p:spPr>
          <a:xfrm>
            <a:off x="4530852" y="5772607"/>
            <a:ext cx="9912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MVP v2</a:t>
            </a:r>
            <a:endParaRPr lang="en-US" sz="1000" dirty="0"/>
          </a:p>
        </p:txBody>
      </p:sp>
      <p:sp>
        <p:nvSpPr>
          <p:cNvPr id="61" name="Text 44"/>
          <p:cNvSpPr txBox="1"/>
          <p:nvPr/>
        </p:nvSpPr>
        <p:spPr>
          <a:xfrm>
            <a:off x="4530852" y="5962802"/>
            <a:ext cx="9912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M5 ~ M6</a:t>
            </a:r>
            <a:endParaRPr lang="en-US" sz="900" dirty="0"/>
          </a:p>
        </p:txBody>
      </p:sp>
      <p:sp>
        <p:nvSpPr>
          <p:cNvPr id="62" name="Text 45"/>
          <p:cNvSpPr txBox="1"/>
          <p:nvPr/>
        </p:nvSpPr>
        <p:spPr>
          <a:xfrm>
            <a:off x="5445252" y="5924398"/>
            <a:ext cx="63249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파싱, 갭 분석, 알림 기능, 역할별 대시보드</a:t>
            </a:r>
            <a:endParaRPr lang="en-US" sz="900" dirty="0"/>
          </a:p>
        </p:txBody>
      </p:sp>
      <p:sp>
        <p:nvSpPr>
          <p:cNvPr id="63" name="Text 46"/>
          <p:cNvSpPr txBox="1"/>
          <p:nvPr/>
        </p:nvSpPr>
        <p:spPr>
          <a:xfrm>
            <a:off x="4530852" y="6267298"/>
            <a:ext cx="9912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안정화</a:t>
            </a:r>
            <a:endParaRPr lang="en-US" sz="1000" dirty="0"/>
          </a:p>
        </p:txBody>
      </p:sp>
      <p:sp>
        <p:nvSpPr>
          <p:cNvPr id="64" name="Text 47"/>
          <p:cNvSpPr txBox="1"/>
          <p:nvPr/>
        </p:nvSpPr>
        <p:spPr>
          <a:xfrm>
            <a:off x="4530852" y="6458407"/>
            <a:ext cx="9912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M7 ~ M8</a:t>
            </a:r>
            <a:endParaRPr lang="en-US" sz="900" dirty="0"/>
          </a:p>
        </p:txBody>
      </p:sp>
      <p:pic>
        <p:nvPicPr>
          <p:cNvPr id="65" name="Image 14" descr="preencoded.png">    </p:cNvPr>
          <p:cNvPicPr>
            <a:picLocks noChangeAspect="1"/>
          </p:cNvPicPr>
          <p:nvPr/>
        </p:nvPicPr>
        <p:blipFill>
          <a:blip r:embed="rId15"/>
          <a:srcRect l="-192" r="-192" t="0" b="0"/>
          <a:stretch/>
        </p:blipFill>
        <p:spPr>
          <a:xfrm>
            <a:off x="5445252" y="6305702"/>
            <a:ext cx="1531620" cy="75895"/>
          </a:xfrm>
          <a:prstGeom prst="rect">
            <a:avLst/>
          </a:prstGeom>
        </p:spPr>
      </p:pic>
      <p:sp>
        <p:nvSpPr>
          <p:cNvPr id="66" name="Text 48"/>
          <p:cNvSpPr txBox="1"/>
          <p:nvPr/>
        </p:nvSpPr>
        <p:spPr>
          <a:xfrm>
            <a:off x="5445252" y="6420002"/>
            <a:ext cx="63249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 튜닝, 오프라인 평가셋 구축, A/B 테스트 체계</a:t>
            </a:r>
            <a:endParaRPr lang="en-US" sz="900" dirty="0"/>
          </a:p>
        </p:txBody>
      </p:sp>
      <p:sp>
        <p:nvSpPr>
          <p:cNvPr id="67" name="Shape 49"/>
          <p:cNvSpPr/>
          <p:nvPr/>
        </p:nvSpPr>
        <p:spPr>
          <a:xfrm>
            <a:off x="457200" y="6772046"/>
            <a:ext cx="112772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8" name="Text 50"/>
          <p:cNvSpPr txBox="1"/>
          <p:nvPr/>
        </p:nvSpPr>
        <p:spPr>
          <a:xfrm>
            <a:off x="457200" y="6933895"/>
            <a:ext cx="43104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2025 Government Project Recommendation System. Confidential.</a:t>
            </a:r>
            <a:endParaRPr lang="en-US" sz="900" dirty="0"/>
          </a:p>
        </p:txBody>
      </p:sp>
      <p:sp>
        <p:nvSpPr>
          <p:cNvPr id="69" name="Text 51"/>
          <p:cNvSpPr txBox="1"/>
          <p:nvPr/>
        </p:nvSpPr>
        <p:spPr>
          <a:xfrm>
            <a:off x="11319358" y="6933895"/>
            <a:ext cx="4974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19810"/>
            <a:ext cx="112772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7200"/>
            <a:ext cx="256580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2" kern="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9. COST &amp; KPI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31674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추정 및 KPI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9974275" y="590702"/>
            <a:ext cx="176570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정부 사업과제 추천 시스템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197389" y="780898"/>
            <a:ext cx="15435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기획안 v2.0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457554"/>
            <a:ext cx="304495" cy="304495"/>
          </a:xfrm>
          <a:prstGeom prst="roundRect">
            <a:avLst>
              <a:gd name="adj" fmla="val 3753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3095" y="1533449"/>
            <a:ext cx="152705" cy="15270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75995" y="1476756"/>
            <a:ext cx="272034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비용 추정 (MVP 8개월)</a:t>
            </a:r>
            <a:endParaRPr lang="en-US" sz="15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-2" r="-2" t="0" b="0"/>
          <a:stretch/>
        </p:blipFill>
        <p:spPr>
          <a:xfrm>
            <a:off x="457200" y="1876349"/>
            <a:ext cx="4604004" cy="552480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57454" y="2076602"/>
            <a:ext cx="4172407" cy="590702"/>
          </a:xfrm>
          <a:prstGeom prst="roundRect">
            <a:avLst>
              <a:gd name="adj" fmla="val 19974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57454" y="2076602"/>
            <a:ext cx="28346" cy="590702"/>
          </a:xfrm>
          <a:prstGeom prst="roundRect">
            <a:avLst>
              <a:gd name="adj" fmla="val 416239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-505" r="-505" t="0" b="0"/>
          <a:stretch/>
        </p:blipFill>
        <p:spPr>
          <a:xfrm>
            <a:off x="800100" y="2281428"/>
            <a:ext cx="228600" cy="18105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62202" y="2200046"/>
            <a:ext cx="14401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개발인력 (2인)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1162202" y="2391156"/>
            <a:ext cx="158739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백엔드 1 + 풀스택 1 (8개월)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4056278" y="2076602"/>
            <a:ext cx="705002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1.28 억원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57454" y="2781605"/>
            <a:ext cx="4172407" cy="590702"/>
          </a:xfrm>
          <a:prstGeom prst="roundRect">
            <a:avLst>
              <a:gd name="adj" fmla="val 19974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7454" y="2781605"/>
            <a:ext cx="28346" cy="590702"/>
          </a:xfrm>
          <a:prstGeom prst="roundRect">
            <a:avLst>
              <a:gd name="adj" fmla="val 416239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-13131" r="-13131" t="0" b="0"/>
          <a:stretch/>
        </p:blipFill>
        <p:spPr>
          <a:xfrm>
            <a:off x="800100" y="2986430"/>
            <a:ext cx="228600" cy="18105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162202" y="2905049"/>
            <a:ext cx="133776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 인프라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1162202" y="3095244"/>
            <a:ext cx="143560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AWS/GCP (Docker 기준)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4105656" y="2781605"/>
            <a:ext cx="657454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400 만원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57454" y="3486607"/>
            <a:ext cx="4172407" cy="590702"/>
          </a:xfrm>
          <a:prstGeom prst="roundRect">
            <a:avLst>
              <a:gd name="adj" fmla="val 19974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57454" y="3486607"/>
            <a:ext cx="28346" cy="590702"/>
          </a:xfrm>
          <a:prstGeom prst="roundRect">
            <a:avLst>
              <a:gd name="adj" fmla="val 416239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rcRect l="-505" r="-505" t="0" b="0"/>
          <a:stretch/>
        </p:blipFill>
        <p:spPr>
          <a:xfrm>
            <a:off x="800100" y="3690518"/>
            <a:ext cx="228600" cy="181051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162202" y="3610051"/>
            <a:ext cx="13716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API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1162202" y="3800246"/>
            <a:ext cx="15197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Claude/OpenAI 토큰 비용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4105656" y="3486607"/>
            <a:ext cx="657454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240 만원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657454" y="4190695"/>
            <a:ext cx="4172407" cy="590702"/>
          </a:xfrm>
          <a:prstGeom prst="roundRect">
            <a:avLst>
              <a:gd name="adj" fmla="val 19974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57454" y="4190695"/>
            <a:ext cx="28346" cy="590702"/>
          </a:xfrm>
          <a:prstGeom prst="roundRect">
            <a:avLst>
              <a:gd name="adj" fmla="val 416239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rcRect l="-13131" r="-13131" t="0" b="0"/>
          <a:stretch/>
        </p:blipFill>
        <p:spPr>
          <a:xfrm>
            <a:off x="800100" y="4395521"/>
            <a:ext cx="228600" cy="181051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162202" y="4315054"/>
            <a:ext cx="12042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기타 도구/보안</a:t>
            </a:r>
            <a:endParaRPr lang="en-US" sz="1000" dirty="0"/>
          </a:p>
        </p:txBody>
      </p:sp>
      <p:sp>
        <p:nvSpPr>
          <p:cNvPr id="35" name="Text 27"/>
          <p:cNvSpPr txBox="1"/>
          <p:nvPr/>
        </p:nvSpPr>
        <p:spPr>
          <a:xfrm>
            <a:off x="1162202" y="4505249"/>
            <a:ext cx="14200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보안, 모니터링, 협업 툴</a:t>
            </a:r>
            <a:endParaRPr lang="en-US" sz="900" dirty="0"/>
          </a:p>
        </p:txBody>
      </p:sp>
      <p:sp>
        <p:nvSpPr>
          <p:cNvPr id="36" name="Text 28"/>
          <p:cNvSpPr txBox="1"/>
          <p:nvPr/>
        </p:nvSpPr>
        <p:spPr>
          <a:xfrm>
            <a:off x="4105656" y="4190695"/>
            <a:ext cx="657454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200 만원</a:t>
            </a:r>
            <a:endParaRPr lang="en-US" sz="1200" dirty="0"/>
          </a:p>
        </p:txBody>
      </p:sp>
      <p:sp>
        <p:nvSpPr>
          <p:cNvPr id="37" name="Shape 29"/>
          <p:cNvSpPr/>
          <p:nvPr/>
        </p:nvSpPr>
        <p:spPr>
          <a:xfrm>
            <a:off x="657454" y="4895698"/>
            <a:ext cx="4172407" cy="590702"/>
          </a:xfrm>
          <a:prstGeom prst="roundRect">
            <a:avLst>
              <a:gd name="adj" fmla="val 19974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657454" y="4895698"/>
            <a:ext cx="28346" cy="590702"/>
          </a:xfrm>
          <a:prstGeom prst="roundRect">
            <a:avLst>
              <a:gd name="adj" fmla="val 416239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rcRect l="-22150" r="-22150" t="0" b="0"/>
          <a:stretch/>
        </p:blipFill>
        <p:spPr>
          <a:xfrm>
            <a:off x="800100" y="5100523"/>
            <a:ext cx="228600" cy="181051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1162202" y="5020056"/>
            <a:ext cx="1429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API / OCR</a:t>
            </a:r>
            <a:endParaRPr lang="en-US" sz="1000" dirty="0"/>
          </a:p>
        </p:txBody>
      </p:sp>
      <p:sp>
        <p:nvSpPr>
          <p:cNvPr id="41" name="Text 32"/>
          <p:cNvSpPr txBox="1"/>
          <p:nvPr/>
        </p:nvSpPr>
        <p:spPr>
          <a:xfrm>
            <a:off x="1162202" y="5210251"/>
            <a:ext cx="164500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공공데이터(무료), 자체 OCR</a:t>
            </a:r>
            <a:endParaRPr lang="en-US" sz="900" dirty="0"/>
          </a:p>
        </p:txBody>
      </p:sp>
      <p:sp>
        <p:nvSpPr>
          <p:cNvPr id="42" name="Text 33"/>
          <p:cNvSpPr txBox="1"/>
          <p:nvPr/>
        </p:nvSpPr>
        <p:spPr>
          <a:xfrm>
            <a:off x="4425696" y="4895698"/>
            <a:ext cx="333756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 원</a:t>
            </a:r>
            <a:endParaRPr lang="en-US" sz="1200" dirty="0"/>
          </a:p>
        </p:txBody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28" b="-28"/>
          <a:stretch/>
        </p:blipFill>
        <p:spPr>
          <a:xfrm>
            <a:off x="657454" y="6524244"/>
            <a:ext cx="4203497" cy="676656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819302" y="6691579"/>
            <a:ext cx="111099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예상 비용</a:t>
            </a:r>
            <a:endParaRPr lang="en-US" sz="1000" dirty="0"/>
          </a:p>
        </p:txBody>
      </p:sp>
      <p:sp>
        <p:nvSpPr>
          <p:cNvPr id="45" name="Text 35"/>
          <p:cNvSpPr txBox="1"/>
          <p:nvPr/>
        </p:nvSpPr>
        <p:spPr>
          <a:xfrm>
            <a:off x="819302" y="6881774"/>
            <a:ext cx="117957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8개월 MVP 개발 기준</a:t>
            </a:r>
            <a:endParaRPr lang="en-US" sz="900" dirty="0"/>
          </a:p>
        </p:txBody>
      </p:sp>
      <p:sp>
        <p:nvSpPr>
          <p:cNvPr id="46" name="Text 36"/>
          <p:cNvSpPr txBox="1"/>
          <p:nvPr/>
        </p:nvSpPr>
        <p:spPr>
          <a:xfrm>
            <a:off x="2809951" y="6687007"/>
            <a:ext cx="189372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1.4 ~ 1.6</a:t>
            </a:r>
            <a:pPr algn="r" indent="0" marL="0">
              <a:buNone/>
            </a:pPr>
            <a:r>
              <a:rPr lang="en-US" sz="1300" b="1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억원</a:t>
            </a:r>
            <a:endParaRPr lang="en-US" sz="2200" dirty="0"/>
          </a:p>
        </p:txBody>
      </p:sp>
      <p:sp>
        <p:nvSpPr>
          <p:cNvPr id="47" name="Shape 37"/>
          <p:cNvSpPr/>
          <p:nvPr/>
        </p:nvSpPr>
        <p:spPr>
          <a:xfrm>
            <a:off x="5289804" y="1457554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365699" y="1533449"/>
            <a:ext cx="152705" cy="152705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5708599" y="1476756"/>
            <a:ext cx="13496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KPI 목표</a:t>
            </a:r>
            <a:endParaRPr lang="en-US" sz="1500" dirty="0"/>
          </a:p>
        </p:txBody>
      </p:sp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0"/>
          <a:srcRect l="-6" r="-6" t="0" b="0"/>
          <a:stretch/>
        </p:blipFill>
        <p:spPr>
          <a:xfrm>
            <a:off x="5289804" y="1876349"/>
            <a:ext cx="6445606" cy="3390595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98948" y="1886407"/>
          <a:ext cx="6430061" cy="3620110"/>
        </p:xfrm>
        <a:graphic>
          <a:graphicData uri="http://schemas.openxmlformats.org/drawingml/2006/table">
            <a:tbl>
              <a:tblPr/>
              <a:tblGrid>
                <a:gridCol w="2249424"/>
                <a:gridCol w="1606601"/>
                <a:gridCol w="1285646"/>
                <a:gridCol w="1285646"/>
              </a:tblGrid>
              <a:tr h="5171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KPI 항목</a:t>
                      </a:r>
                      <a:endParaRPr lang="en-US" sz="108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목표값</a:t>
                      </a:r>
                      <a:endParaRPr lang="en-US" sz="108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주기</a:t>
                      </a:r>
                      <a:endParaRPr lang="en-US" sz="108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담당</a:t>
                      </a:r>
                      <a:endParaRPr lang="en-US" sz="108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5171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추천 클릭률</a:t>
                      </a:r>
                      <a:endParaRPr lang="en-US" sz="1200" dirty="0"/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1D4ED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≥ 40%</a:t>
                      </a:r>
                      <a:endParaRPr lang="en-US" sz="1200" dirty="0"/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주간</a:t>
                      </a:r>
                      <a:endParaRPr lang="en-US" sz="1200" dirty="0"/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사업개발</a:t>
                      </a:r>
                      <a:endParaRPr lang="en-US" sz="1200" dirty="0"/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71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지원 전환율</a:t>
                      </a:r>
                      <a:endParaRPr lang="en-US" sz="1200" dirty="0"/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1D4ED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≥ 20%</a:t>
                      </a:r>
                      <a:endParaRPr lang="en-US" sz="1200" dirty="0"/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월간</a:t>
                      </a:r>
                      <a:endParaRPr lang="en-US" sz="1200" dirty="0"/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사업개발</a:t>
                      </a:r>
                      <a:endParaRPr lang="en-US" sz="1200" dirty="0"/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171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최종 선정률</a:t>
                      </a:r>
                      <a:endParaRPr lang="en-US" sz="1200" dirty="0"/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1D4ED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+10%p</a:t>
                      </a:r>
                      <a:endParaRPr lang="en-US" sz="1200" dirty="0"/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분기</a:t>
                      </a:r>
                      <a:endParaRPr lang="en-US" sz="1200" dirty="0"/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대표</a:t>
                      </a:r>
                      <a:endParaRPr lang="en-US" sz="1200" dirty="0"/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71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과제 탐색 소요시간</a:t>
                      </a:r>
                      <a:endParaRPr lang="en-US" sz="1200" dirty="0"/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1D4ED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&lt; 30분</a:t>
                      </a:r>
                      <a:endParaRPr lang="en-US" sz="1200" dirty="0"/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월간</a:t>
                      </a:r>
                      <a:endParaRPr lang="en-US" sz="1200" dirty="0"/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사업개발</a:t>
                      </a:r>
                      <a:endParaRPr lang="en-US" sz="1200" dirty="0"/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171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추천 정확도</a:t>
                      </a:r>
                      <a:endParaRPr lang="en-US" sz="1200" dirty="0"/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1D4ED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≥ 70%</a:t>
                      </a:r>
                      <a:endParaRPr lang="en-US" sz="1200" dirty="0"/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월간</a:t>
                      </a:r>
                      <a:endParaRPr lang="en-US" sz="1200" dirty="0"/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연구책임자</a:t>
                      </a:r>
                      <a:endParaRPr lang="en-US" sz="1200" dirty="0"/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71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월간 활성 기업</a:t>
                      </a:r>
                      <a:endParaRPr lang="en-US" sz="1200" dirty="0"/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1D4ED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≥ 5개사</a:t>
                      </a:r>
                      <a:endParaRPr lang="en-US" sz="1200" dirty="0"/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월간</a:t>
                      </a:r>
                      <a:endParaRPr lang="en-US" sz="1200" dirty="0"/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운영팀</a:t>
                      </a:r>
                      <a:endParaRPr lang="en-US" sz="1200" dirty="0"/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pic>
        <p:nvPicPr>
          <p:cNvPr id="52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6" b="-6"/>
          <a:stretch/>
        </p:blipFill>
        <p:spPr>
          <a:xfrm>
            <a:off x="5289804" y="5419649"/>
            <a:ext cx="6445606" cy="1981505"/>
          </a:xfrm>
          <a:prstGeom prst="rect">
            <a:avLst/>
          </a:prstGeom>
        </p:spPr>
      </p:pic>
      <p:sp>
        <p:nvSpPr>
          <p:cNvPr id="53" name="Text 39"/>
          <p:cNvSpPr txBox="1"/>
          <p:nvPr/>
        </p:nvSpPr>
        <p:spPr>
          <a:xfrm>
            <a:off x="5661050" y="5581498"/>
            <a:ext cx="61063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성과 목표 시각화</a:t>
            </a:r>
            <a:endParaRPr lang="en-US" sz="1000" dirty="0"/>
          </a:p>
        </p:txBody>
      </p:sp>
      <p:pic>
        <p:nvPicPr>
          <p:cNvPr id="54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5451653" y="5617159"/>
            <a:ext cx="133502" cy="133502"/>
          </a:xfrm>
          <a:prstGeom prst="rect">
            <a:avLst/>
          </a:prstGeom>
        </p:spPr>
      </p:pic>
      <p:pic>
        <p:nvPicPr>
          <p:cNvPr id="55" name="Image 12" descr="preencoded.png">    </p:cNvPr>
          <p:cNvPicPr>
            <a:picLocks noChangeAspect="1"/>
          </p:cNvPicPr>
          <p:nvPr/>
        </p:nvPicPr>
        <p:blipFill>
          <a:blip r:embed="rId13"/>
          <a:srcRect l="-62" r="-62" t="0" b="0"/>
          <a:stretch/>
        </p:blipFill>
        <p:spPr>
          <a:xfrm>
            <a:off x="5451653" y="5848502"/>
            <a:ext cx="6124651" cy="1429207"/>
          </a:xfrm>
          <a:prstGeom prst="rect">
            <a:avLst/>
          </a:prstGeom>
        </p:spPr>
      </p:pic>
      <p:sp>
        <p:nvSpPr>
          <p:cNvPr id="56" name="Shape 40"/>
          <p:cNvSpPr/>
          <p:nvPr/>
        </p:nvSpPr>
        <p:spPr>
          <a:xfrm>
            <a:off x="457200" y="7401154"/>
            <a:ext cx="112772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7" name="Text 41"/>
          <p:cNvSpPr txBox="1"/>
          <p:nvPr/>
        </p:nvSpPr>
        <p:spPr>
          <a:xfrm>
            <a:off x="457200" y="7563002"/>
            <a:ext cx="43104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2025 Government Project Recommendation System. Confidential.</a:t>
            </a:r>
            <a:endParaRPr lang="en-US" sz="900" dirty="0"/>
          </a:p>
        </p:txBody>
      </p:sp>
      <p:sp>
        <p:nvSpPr>
          <p:cNvPr id="58" name="Text 42"/>
          <p:cNvSpPr txBox="1"/>
          <p:nvPr/>
        </p:nvSpPr>
        <p:spPr>
          <a:xfrm>
            <a:off x="11319358" y="7563002"/>
            <a:ext cx="4974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19810"/>
            <a:ext cx="112772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7200"/>
            <a:ext cx="36868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2" kern="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10. MVP SERVICE FLOW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481248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MVP 전체 서비스 흐름도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9974275" y="590702"/>
            <a:ext cx="176570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정부 사업과제 추천 시스템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197389" y="780898"/>
            <a:ext cx="15435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기획안 v2.0</a:t>
            </a:r>
            <a:endParaRPr lang="en-US" sz="9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5" b="-5"/>
          <a:stretch/>
        </p:blipFill>
        <p:spPr>
          <a:xfrm>
            <a:off x="457200" y="1457554"/>
            <a:ext cx="11277295" cy="5110582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34" r="34" t="0" b="0"/>
          <a:stretch/>
        </p:blipFill>
        <p:spPr>
          <a:xfrm>
            <a:off x="1944929" y="1695298"/>
            <a:ext cx="8305495" cy="4638751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57200" y="6719926"/>
            <a:ext cx="11277295" cy="685800"/>
          </a:xfrm>
          <a:prstGeom prst="roundRect">
            <a:avLst>
              <a:gd name="adj" fmla="val 14815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80644" y="6881774"/>
            <a:ext cx="133502" cy="13350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28446" y="6843370"/>
            <a:ext cx="108585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본 흐름도는 데이터 수집부터 최종 실행 지원까지의 MVP 전체 서비스 로직을 시각화한 것입니다. </a:t>
            </a:r>
            <a:pPr algn="l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1차 필터(자격요건)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통과 시에만 </a:t>
            </a:r>
            <a:pPr algn="l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2차 랭킹(스코어링)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수행되며, 이후 </a:t>
            </a:r>
            <a:pPr algn="l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3차 전략 제안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통해 맞춤형 액션 플랜이 제공됩니다. 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57200" y="7401154"/>
            <a:ext cx="112772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457200" y="7563002"/>
            <a:ext cx="43104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2025 Government Project Recommendation System. Confidential.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11319358" y="7563002"/>
            <a:ext cx="4974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11</a:t>
            </a:r>
            <a:endParaRPr lang="en-US" sz="9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4" y="1657807"/>
            <a:ext cx="1524305" cy="28620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61949" y="1657807"/>
            <a:ext cx="1219810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End-to-End Process</a:t>
            </a:r>
            <a:endParaRPr lang="en-US" sz="9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71754" y="1742846"/>
            <a:ext cx="114300" cy="11430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9581998" y="5127041"/>
            <a:ext cx="1952244" cy="1248156"/>
          </a:xfrm>
          <a:prstGeom prst="roundRect">
            <a:avLst>
              <a:gd name="adj" fmla="val 4474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9744761" y="5442509"/>
            <a:ext cx="1628546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9744761" y="5251399"/>
            <a:ext cx="1705356" cy="1527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LEGEND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9744761" y="5527548"/>
            <a:ext cx="190195" cy="190195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10030054" y="5531206"/>
            <a:ext cx="146304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시작 / 종료 (Start/End)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9744761" y="5793638"/>
            <a:ext cx="190195" cy="190195"/>
          </a:xfrm>
          <a:prstGeom prst="roundRect">
            <a:avLst>
              <a:gd name="adj" fmla="val 96154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10030054" y="5797296"/>
            <a:ext cx="159837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프로세스 / 처리 (Process)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10030054" y="6060643"/>
            <a:ext cx="12582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(Decision)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 rot="2700000">
            <a:off x="9773107" y="6085332"/>
            <a:ext cx="133502" cy="133502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19810"/>
            <a:ext cx="112772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7200"/>
            <a:ext cx="207111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2" kern="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11. FUTURE ROADMAP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287578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고도화 로드맵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9974275" y="590702"/>
            <a:ext cx="176570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정부 사업과제 추천 시스템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197389" y="780898"/>
            <a:ext cx="15435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기획안 v2.0</a:t>
            </a:r>
            <a:endParaRPr lang="en-US" sz="9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399" b="-399"/>
          <a:stretch/>
        </p:blipFill>
        <p:spPr>
          <a:xfrm>
            <a:off x="933602" y="1800454"/>
            <a:ext cx="10325405" cy="38405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rcRect l="0" r="0" t="-407" b="-407"/>
          <a:stretch/>
        </p:blipFill>
        <p:spPr>
          <a:xfrm>
            <a:off x="933602" y="1800454"/>
            <a:ext cx="2064715" cy="38405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-10" r="-10" t="0" b="0"/>
          <a:stretch/>
        </p:blipFill>
        <p:spPr>
          <a:xfrm>
            <a:off x="457200" y="2371954"/>
            <a:ext cx="2594153" cy="2735885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-369" r="-369" t="0" b="0"/>
          <a:stretch/>
        </p:blipFill>
        <p:spPr>
          <a:xfrm>
            <a:off x="1744675" y="2133295"/>
            <a:ext cx="19202" cy="247802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7128" y="2609698"/>
            <a:ext cx="647395" cy="24780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167128" y="2609698"/>
            <a:ext cx="64831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5" kern="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01</a:t>
            </a:r>
            <a:endParaRPr lang="en-US" sz="900" dirty="0"/>
          </a:p>
        </p:txBody>
      </p:sp>
      <p:sp>
        <p:nvSpPr>
          <p:cNvPr id="15" name="Shape 8"/>
          <p:cNvSpPr/>
          <p:nvPr/>
        </p:nvSpPr>
        <p:spPr>
          <a:xfrm>
            <a:off x="694944" y="2609698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09244" y="2723998"/>
            <a:ext cx="228600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694944" y="3219602"/>
            <a:ext cx="229423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선정 확률 예측 모델</a:t>
            </a:r>
            <a:endParaRPr lang="en-US" sz="1500" dirty="0"/>
          </a:p>
        </p:txBody>
      </p:sp>
      <p:sp>
        <p:nvSpPr>
          <p:cNvPr id="18" name="Text 10"/>
          <p:cNvSpPr txBox="1"/>
          <p:nvPr/>
        </p:nvSpPr>
        <p:spPr>
          <a:xfrm>
            <a:off x="694944" y="3600907"/>
            <a:ext cx="2200961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과거 선정 과제의 키워드, 기업 스펙, 경쟁률 데이터를 학습하여 지원 전 합격 가능성을 수치로 예측합니다.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694944" y="4402836"/>
            <a:ext cx="2124151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0" name="Text 12"/>
          <p:cNvSpPr txBox="1"/>
          <p:nvPr/>
        </p:nvSpPr>
        <p:spPr>
          <a:xfrm>
            <a:off x="694944" y="4527194"/>
            <a:ext cx="22091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TECH</a:t>
            </a:r>
            <a:endParaRPr lang="en-US" sz="900" dirty="0"/>
          </a:p>
        </p:txBody>
      </p:sp>
      <p:sp>
        <p:nvSpPr>
          <p:cNvPr id="21" name="Text 13"/>
          <p:cNvSpPr txBox="1"/>
          <p:nvPr/>
        </p:nvSpPr>
        <p:spPr>
          <a:xfrm>
            <a:off x="694944" y="4717390"/>
            <a:ext cx="22091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XGBoost / Scikit-learn</a:t>
            </a:r>
            <a:endParaRPr lang="en-US" sz="9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rcRect l="-10" r="-10" t="0" b="0"/>
          <a:stretch/>
        </p:blipFill>
        <p:spPr>
          <a:xfrm>
            <a:off x="3352190" y="2371954"/>
            <a:ext cx="2594153" cy="2735885"/>
          </a:xfrm>
          <a:prstGeom prst="rect">
            <a:avLst/>
          </a:prstGeom>
        </p:spPr>
      </p:pic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rcRect l="-369" r="-369" t="0" b="0"/>
          <a:stretch/>
        </p:blipFill>
        <p:spPr>
          <a:xfrm>
            <a:off x="4638751" y="2133295"/>
            <a:ext cx="19202" cy="247802"/>
          </a:xfrm>
          <a:prstGeom prst="rect">
            <a:avLst/>
          </a:prstGeom>
        </p:spPr>
      </p:pic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2118" y="2609698"/>
            <a:ext cx="647395" cy="247802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062118" y="2609698"/>
            <a:ext cx="64831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5" kern="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02</a:t>
            </a:r>
            <a:endParaRPr lang="en-US" sz="900" dirty="0"/>
          </a:p>
        </p:txBody>
      </p:sp>
      <p:sp>
        <p:nvSpPr>
          <p:cNvPr id="26" name="Shape 15"/>
          <p:cNvSpPr/>
          <p:nvPr/>
        </p:nvSpPr>
        <p:spPr>
          <a:xfrm>
            <a:off x="3589934" y="2609698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rcRect l="-133" r="-133" t="0" b="0"/>
          <a:stretch/>
        </p:blipFill>
        <p:spPr>
          <a:xfrm>
            <a:off x="3732581" y="2723998"/>
            <a:ext cx="171907" cy="228600"/>
          </a:xfrm>
          <a:prstGeom prst="rect">
            <a:avLst/>
          </a:prstGeom>
        </p:spPr>
      </p:pic>
      <p:sp>
        <p:nvSpPr>
          <p:cNvPr id="28" name="Text 16"/>
          <p:cNvSpPr txBox="1"/>
          <p:nvPr/>
        </p:nvSpPr>
        <p:spPr>
          <a:xfrm>
            <a:off x="3589934" y="3219602"/>
            <a:ext cx="229423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제안서 품질 점검 AI</a:t>
            </a:r>
            <a:endParaRPr lang="en-US" sz="1500" dirty="0"/>
          </a:p>
        </p:txBody>
      </p:sp>
      <p:sp>
        <p:nvSpPr>
          <p:cNvPr id="29" name="Text 17"/>
          <p:cNvSpPr txBox="1"/>
          <p:nvPr/>
        </p:nvSpPr>
        <p:spPr>
          <a:xfrm>
            <a:off x="3589934" y="3600907"/>
            <a:ext cx="2200961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공고의 평가항목 기준을 바탕으로 제안서 초안을 분석하여 논리적 결함과 누락된 요소를 자동 진단합니다.</a:t>
            </a:r>
            <a:endParaRPr lang="en-US" sz="1000" dirty="0"/>
          </a:p>
        </p:txBody>
      </p:sp>
      <p:sp>
        <p:nvSpPr>
          <p:cNvPr id="30" name="Shape 18"/>
          <p:cNvSpPr/>
          <p:nvPr/>
        </p:nvSpPr>
        <p:spPr>
          <a:xfrm>
            <a:off x="3589934" y="4402836"/>
            <a:ext cx="2124151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1" name="Text 19"/>
          <p:cNvSpPr txBox="1"/>
          <p:nvPr/>
        </p:nvSpPr>
        <p:spPr>
          <a:xfrm>
            <a:off x="3589934" y="4527194"/>
            <a:ext cx="22091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TECH</a:t>
            </a:r>
            <a:endParaRPr lang="en-US" sz="900" dirty="0"/>
          </a:p>
        </p:txBody>
      </p:sp>
      <p:sp>
        <p:nvSpPr>
          <p:cNvPr id="32" name="Text 20"/>
          <p:cNvSpPr txBox="1"/>
          <p:nvPr/>
        </p:nvSpPr>
        <p:spPr>
          <a:xfrm>
            <a:off x="3589934" y="4717390"/>
            <a:ext cx="22091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LLM (Claude/GPT) + RAG</a:t>
            </a:r>
            <a:endParaRPr lang="en-US" sz="900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rcRect l="-10" r="-10" t="0" b="0"/>
          <a:stretch/>
        </p:blipFill>
        <p:spPr>
          <a:xfrm>
            <a:off x="6246266" y="2371954"/>
            <a:ext cx="2594153" cy="2735885"/>
          </a:xfrm>
          <a:prstGeom prst="rect">
            <a:avLst/>
          </a:prstGeom>
        </p:spPr>
      </p:pic>
      <p:pic>
        <p:nvPicPr>
          <p:cNvPr id="34" name="Image 11" descr="preencoded.png">    </p:cNvPr>
          <p:cNvPicPr>
            <a:picLocks noChangeAspect="1"/>
          </p:cNvPicPr>
          <p:nvPr/>
        </p:nvPicPr>
        <p:blipFill>
          <a:blip r:embed="rId12"/>
          <a:srcRect l="-369" r="-369" t="0" b="0"/>
          <a:stretch/>
        </p:blipFill>
        <p:spPr>
          <a:xfrm>
            <a:off x="7533742" y="2133295"/>
            <a:ext cx="19202" cy="247802"/>
          </a:xfrm>
          <a:prstGeom prst="rect">
            <a:avLst/>
          </a:prstGeom>
        </p:spPr>
      </p:pic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56194" y="2609698"/>
            <a:ext cx="647395" cy="247802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7956194" y="2609698"/>
            <a:ext cx="64831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5" kern="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03</a:t>
            </a:r>
            <a:endParaRPr lang="en-US" sz="900" dirty="0"/>
          </a:p>
        </p:txBody>
      </p:sp>
      <p:sp>
        <p:nvSpPr>
          <p:cNvPr id="37" name="Shape 22"/>
          <p:cNvSpPr/>
          <p:nvPr/>
        </p:nvSpPr>
        <p:spPr>
          <a:xfrm>
            <a:off x="6484925" y="2609698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38" name="Image 13" descr="preencoded.png">    </p:cNvPr>
          <p:cNvPicPr>
            <a:picLocks noChangeAspect="1"/>
          </p:cNvPicPr>
          <p:nvPr/>
        </p:nvPicPr>
        <p:blipFill>
          <a:blip r:embed="rId14"/>
          <a:srcRect l="-80" r="-80" t="0" b="0"/>
          <a:stretch/>
        </p:blipFill>
        <p:spPr>
          <a:xfrm>
            <a:off x="6569964" y="2723998"/>
            <a:ext cx="286207" cy="228600"/>
          </a:xfrm>
          <a:prstGeom prst="rect">
            <a:avLst/>
          </a:prstGeom>
        </p:spPr>
      </p:pic>
      <p:sp>
        <p:nvSpPr>
          <p:cNvPr id="39" name="Text 23"/>
          <p:cNvSpPr txBox="1"/>
          <p:nvPr/>
        </p:nvSpPr>
        <p:spPr>
          <a:xfrm>
            <a:off x="6484925" y="3219602"/>
            <a:ext cx="229423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컨소시엄 파트너 추천</a:t>
            </a:r>
            <a:endParaRPr lang="en-US" sz="1500" dirty="0"/>
          </a:p>
        </p:txBody>
      </p:sp>
      <p:sp>
        <p:nvSpPr>
          <p:cNvPr id="40" name="Text 24"/>
          <p:cNvSpPr txBox="1"/>
          <p:nvPr/>
        </p:nvSpPr>
        <p:spPr>
          <a:xfrm>
            <a:off x="6484925" y="3600907"/>
            <a:ext cx="2200961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부족한 기술 역량이나 자격 요건을 보완해 줄 수 있는 최적의 산·학·연 협력 파트너를 매칭합니다.</a:t>
            </a:r>
            <a:endParaRPr lang="en-US" sz="1000" dirty="0"/>
          </a:p>
        </p:txBody>
      </p:sp>
      <p:sp>
        <p:nvSpPr>
          <p:cNvPr id="41" name="Shape 25"/>
          <p:cNvSpPr/>
          <p:nvPr/>
        </p:nvSpPr>
        <p:spPr>
          <a:xfrm>
            <a:off x="6484925" y="4402836"/>
            <a:ext cx="2124151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2" name="Text 26"/>
          <p:cNvSpPr txBox="1"/>
          <p:nvPr/>
        </p:nvSpPr>
        <p:spPr>
          <a:xfrm>
            <a:off x="6484925" y="4527194"/>
            <a:ext cx="22091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TECH</a:t>
            </a:r>
            <a:endParaRPr lang="en-US" sz="900" dirty="0"/>
          </a:p>
        </p:txBody>
      </p:sp>
      <p:sp>
        <p:nvSpPr>
          <p:cNvPr id="43" name="Text 27"/>
          <p:cNvSpPr txBox="1"/>
          <p:nvPr/>
        </p:nvSpPr>
        <p:spPr>
          <a:xfrm>
            <a:off x="6484925" y="4717390"/>
            <a:ext cx="22091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Graph DB / Link Prediction</a:t>
            </a:r>
            <a:endParaRPr lang="en-US" sz="900" dirty="0"/>
          </a:p>
        </p:txBody>
      </p:sp>
      <p:pic>
        <p:nvPicPr>
          <p:cNvPr id="44" name="Image 14" descr="preencoded.png">    </p:cNvPr>
          <p:cNvPicPr>
            <a:picLocks noChangeAspect="1"/>
          </p:cNvPicPr>
          <p:nvPr/>
        </p:nvPicPr>
        <p:blipFill>
          <a:blip r:embed="rId15"/>
          <a:srcRect l="-10" r="-10" t="0" b="0"/>
          <a:stretch/>
        </p:blipFill>
        <p:spPr>
          <a:xfrm>
            <a:off x="9141257" y="2371954"/>
            <a:ext cx="2594153" cy="2735885"/>
          </a:xfrm>
          <a:prstGeom prst="rect">
            <a:avLst/>
          </a:prstGeom>
        </p:spPr>
      </p:pic>
      <p:pic>
        <p:nvPicPr>
          <p:cNvPr id="45" name="Image 15" descr="preencoded.png">    </p:cNvPr>
          <p:cNvPicPr>
            <a:picLocks noChangeAspect="1"/>
          </p:cNvPicPr>
          <p:nvPr/>
        </p:nvPicPr>
        <p:blipFill>
          <a:blip r:embed="rId16"/>
          <a:srcRect l="-369" r="-369" t="0" b="0"/>
          <a:stretch/>
        </p:blipFill>
        <p:spPr>
          <a:xfrm>
            <a:off x="10428732" y="2133295"/>
            <a:ext cx="19202" cy="247802"/>
          </a:xfrm>
          <a:prstGeom prst="rect">
            <a:avLst/>
          </a:prstGeom>
        </p:spPr>
      </p:pic>
      <p:pic>
        <p:nvPicPr>
          <p:cNvPr id="4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851185" y="2609698"/>
            <a:ext cx="647395" cy="247802"/>
          </a:xfrm>
          <a:prstGeom prst="rect">
            <a:avLst/>
          </a:prstGeom>
        </p:spPr>
      </p:pic>
      <p:sp>
        <p:nvSpPr>
          <p:cNvPr id="47" name="Text 28"/>
          <p:cNvSpPr/>
          <p:nvPr/>
        </p:nvSpPr>
        <p:spPr>
          <a:xfrm>
            <a:off x="10851185" y="2609698"/>
            <a:ext cx="64831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5" kern="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04</a:t>
            </a:r>
            <a:endParaRPr lang="en-US" sz="900" dirty="0"/>
          </a:p>
        </p:txBody>
      </p:sp>
      <p:sp>
        <p:nvSpPr>
          <p:cNvPr id="48" name="Shape 29"/>
          <p:cNvSpPr/>
          <p:nvPr/>
        </p:nvSpPr>
        <p:spPr>
          <a:xfrm>
            <a:off x="9379001" y="2609698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FFBEB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49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-45" b="-45"/>
          <a:stretch/>
        </p:blipFill>
        <p:spPr>
          <a:xfrm>
            <a:off x="9479585" y="2723998"/>
            <a:ext cx="256946" cy="228600"/>
          </a:xfrm>
          <a:prstGeom prst="rect">
            <a:avLst/>
          </a:prstGeom>
        </p:spPr>
      </p:pic>
      <p:sp>
        <p:nvSpPr>
          <p:cNvPr id="50" name="Text 30"/>
          <p:cNvSpPr txBox="1"/>
          <p:nvPr/>
        </p:nvSpPr>
        <p:spPr>
          <a:xfrm>
            <a:off x="9379001" y="3219602"/>
            <a:ext cx="229423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과제 전략 수립</a:t>
            </a:r>
            <a:endParaRPr lang="en-US" sz="1500" dirty="0"/>
          </a:p>
        </p:txBody>
      </p:sp>
      <p:sp>
        <p:nvSpPr>
          <p:cNvPr id="51" name="Text 31"/>
          <p:cNvSpPr txBox="1"/>
          <p:nvPr/>
        </p:nvSpPr>
        <p:spPr>
          <a:xfrm>
            <a:off x="9379001" y="3600907"/>
            <a:ext cx="2200961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기업의 성장 단계와 포트폴리오를 분석하여 1년 단위의 중장기 과제 지원 로드맵을 자동으로 생성합니다.</a:t>
            </a:r>
            <a:endParaRPr lang="en-US" sz="1000" dirty="0"/>
          </a:p>
        </p:txBody>
      </p:sp>
      <p:sp>
        <p:nvSpPr>
          <p:cNvPr id="52" name="Shape 32"/>
          <p:cNvSpPr/>
          <p:nvPr/>
        </p:nvSpPr>
        <p:spPr>
          <a:xfrm>
            <a:off x="9379001" y="4402836"/>
            <a:ext cx="2124151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3" name="Text 33"/>
          <p:cNvSpPr txBox="1"/>
          <p:nvPr/>
        </p:nvSpPr>
        <p:spPr>
          <a:xfrm>
            <a:off x="9379001" y="4527194"/>
            <a:ext cx="22091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TECH</a:t>
            </a:r>
            <a:endParaRPr lang="en-US" sz="900" dirty="0"/>
          </a:p>
        </p:txBody>
      </p:sp>
      <p:sp>
        <p:nvSpPr>
          <p:cNvPr id="54" name="Text 34"/>
          <p:cNvSpPr txBox="1"/>
          <p:nvPr/>
        </p:nvSpPr>
        <p:spPr>
          <a:xfrm>
            <a:off x="9379001" y="4717390"/>
            <a:ext cx="22091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Time-series Analysis</a:t>
            </a:r>
            <a:endParaRPr lang="en-US" sz="900" dirty="0"/>
          </a:p>
        </p:txBody>
      </p:sp>
      <p:sp>
        <p:nvSpPr>
          <p:cNvPr id="55" name="Shape 35"/>
          <p:cNvSpPr/>
          <p:nvPr/>
        </p:nvSpPr>
        <p:spPr>
          <a:xfrm>
            <a:off x="457200" y="6086246"/>
            <a:ext cx="112772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6" name="Text 36"/>
          <p:cNvSpPr txBox="1"/>
          <p:nvPr/>
        </p:nvSpPr>
        <p:spPr>
          <a:xfrm>
            <a:off x="457200" y="6248095"/>
            <a:ext cx="43104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2025 Government Project Recommendation System. Confidential.</a:t>
            </a:r>
            <a:endParaRPr lang="en-US" sz="900" dirty="0"/>
          </a:p>
        </p:txBody>
      </p:sp>
      <p:sp>
        <p:nvSpPr>
          <p:cNvPr id="57" name="Text 37"/>
          <p:cNvSpPr txBox="1"/>
          <p:nvPr/>
        </p:nvSpPr>
        <p:spPr>
          <a:xfrm>
            <a:off x="11319358" y="6248095"/>
            <a:ext cx="4974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12</a:t>
            </a:r>
            <a:endParaRPr lang="en-US" sz="900" dirty="0"/>
          </a:p>
        </p:txBody>
      </p:sp>
      <p:pic>
        <p:nvPicPr>
          <p:cNvPr id="58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1639519" y="1904695"/>
            <a:ext cx="228600" cy="228600"/>
          </a:xfrm>
          <a:prstGeom prst="rect">
            <a:avLst/>
          </a:prstGeom>
        </p:spPr>
      </p:pic>
      <p:pic>
        <p:nvPicPr>
          <p:cNvPr id="59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0" b="0"/>
          <a:stretch/>
        </p:blipFill>
        <p:spPr>
          <a:xfrm>
            <a:off x="4534510" y="1904695"/>
            <a:ext cx="228600" cy="228600"/>
          </a:xfrm>
          <a:prstGeom prst="rect">
            <a:avLst/>
          </a:prstGeom>
        </p:spPr>
      </p:pic>
      <p:pic>
        <p:nvPicPr>
          <p:cNvPr id="60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0" b="0"/>
          <a:stretch/>
        </p:blipFill>
        <p:spPr>
          <a:xfrm>
            <a:off x="7429500" y="1904695"/>
            <a:ext cx="228600" cy="228600"/>
          </a:xfrm>
          <a:prstGeom prst="rect">
            <a:avLst/>
          </a:prstGeom>
        </p:spPr>
      </p:pic>
      <p:pic>
        <p:nvPicPr>
          <p:cNvPr id="61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0" b="0"/>
          <a:stretch/>
        </p:blipFill>
        <p:spPr>
          <a:xfrm>
            <a:off x="10323576" y="1904695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2026-02-26T08:19:21Z</dcterms:created>
  <dcterms:modified xsi:type="dcterms:W3CDTF">2026-02-26T08:19:21Z</dcterms:modified>
</cp:coreProperties>
</file>